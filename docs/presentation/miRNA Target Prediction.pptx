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4"/>
  </p:notesMasterIdLst>
  <p:sldIdLst>
    <p:sldId id="280" r:id="rId2"/>
    <p:sldId id="282" r:id="rId3"/>
    <p:sldId id="283" r:id="rId4"/>
    <p:sldId id="284" r:id="rId5"/>
    <p:sldId id="311" r:id="rId6"/>
    <p:sldId id="310" r:id="rId7"/>
    <p:sldId id="286" r:id="rId8"/>
    <p:sldId id="312" r:id="rId9"/>
    <p:sldId id="323" r:id="rId10"/>
    <p:sldId id="313" r:id="rId11"/>
    <p:sldId id="314" r:id="rId12"/>
    <p:sldId id="315" r:id="rId13"/>
    <p:sldId id="316" r:id="rId14"/>
    <p:sldId id="317" r:id="rId15"/>
    <p:sldId id="318" r:id="rId16"/>
    <p:sldId id="324" r:id="rId17"/>
    <p:sldId id="319" r:id="rId18"/>
    <p:sldId id="325" r:id="rId19"/>
    <p:sldId id="320" r:id="rId20"/>
    <p:sldId id="321" r:id="rId21"/>
    <p:sldId id="326" r:id="rId22"/>
    <p:sldId id="322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Ishan Venkatesh" initials="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3D6E04-BDBB-4BD7-B5EE-AF346C81E007}">
  <a:tblStyle styleId="{913D6E04-BDBB-4BD7-B5EE-AF346C81E0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9" autoAdjust="0"/>
    <p:restoredTop sz="84949" autoAdjust="0"/>
  </p:normalViewPr>
  <p:slideViewPr>
    <p:cSldViewPr snapToGrid="0">
      <p:cViewPr varScale="1">
        <p:scale>
          <a:sx n="124" d="100"/>
          <a:sy n="124" d="100"/>
        </p:scale>
        <p:origin x="1260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4cb0165c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4cb0165c7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4cb0165c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4cb0165c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4cb0165c7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4cb0165c7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BF6ECF77-82DC-4692-6782-2E08C50A3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4cb0165c7_0_34:notes">
            <a:extLst>
              <a:ext uri="{FF2B5EF4-FFF2-40B4-BE49-F238E27FC236}">
                <a16:creationId xmlns:a16="http://schemas.microsoft.com/office/drawing/2014/main" id="{58FC7CDF-4780-FE39-4DC4-BD31976483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4cb0165c7_0_34:notes">
            <a:extLst>
              <a:ext uri="{FF2B5EF4-FFF2-40B4-BE49-F238E27FC236}">
                <a16:creationId xmlns:a16="http://schemas.microsoft.com/office/drawing/2014/main" id="{0931E393-0CC7-F56F-E5DB-88CDC2FC5A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83988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202C0036-C4D3-5B54-70A9-B41213B99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4cb0165c7_0_50:notes">
            <a:extLst>
              <a:ext uri="{FF2B5EF4-FFF2-40B4-BE49-F238E27FC236}">
                <a16:creationId xmlns:a16="http://schemas.microsoft.com/office/drawing/2014/main" id="{00DDAEAA-279C-6CFB-B0DB-8C87A9D109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4cb0165c7_0_50:notes">
            <a:extLst>
              <a:ext uri="{FF2B5EF4-FFF2-40B4-BE49-F238E27FC236}">
                <a16:creationId xmlns:a16="http://schemas.microsoft.com/office/drawing/2014/main" id="{8613DAD0-2AF0-F7B3-7E39-BBC29A0F51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1381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4cb0165c7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4cb0165c7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229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4678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6276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641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lose up of pages of an open book in a bright studio">
            <a:extLst>
              <a:ext uri="{FF2B5EF4-FFF2-40B4-BE49-F238E27FC236}">
                <a16:creationId xmlns:a16="http://schemas.microsoft.com/office/drawing/2014/main" id="{AFB014C0-9BDF-3968-DFC6-653EE889708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alphaModFix amt="11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6000" b="10088"/>
          <a:stretch>
            <a:fillRect/>
          </a:stretch>
        </p:blipFill>
        <p:spPr>
          <a:xfrm>
            <a:off x="-25200" y="0"/>
            <a:ext cx="9194399" cy="5143500"/>
          </a:xfrm>
          <a:prstGeom prst="rect">
            <a:avLst/>
          </a:prstGeom>
        </p:spPr>
      </p:pic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73118" y="2550446"/>
            <a:ext cx="8520600" cy="8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Cambria"/>
                <a:ea typeface="Cambria"/>
                <a:cs typeface="Cambria"/>
                <a:sym typeface="Cambria"/>
              </a:rPr>
              <a:t>miRNA Target Prediction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44" b="1" dirty="0">
                <a:latin typeface="Cambria"/>
                <a:ea typeface="Cambria"/>
                <a:cs typeface="Cambria"/>
                <a:sym typeface="Cambria"/>
              </a:rPr>
              <a:t>Comparison of Computation Prediction Algorithms</a:t>
            </a:r>
            <a:endParaRPr sz="3644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lose up of pages of an open book in a bright studio">
            <a:extLst>
              <a:ext uri="{FF2B5EF4-FFF2-40B4-BE49-F238E27FC236}">
                <a16:creationId xmlns:a16="http://schemas.microsoft.com/office/drawing/2014/main" id="{ECFB027D-AE97-7C73-EC63-F893AD8E44A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alphaModFix amt="11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6000" b="10088"/>
          <a:stretch>
            <a:fillRect/>
          </a:stretch>
        </p:blipFill>
        <p:spPr>
          <a:xfrm>
            <a:off x="-25200" y="-114763"/>
            <a:ext cx="9194399" cy="5143500"/>
          </a:xfrm>
          <a:prstGeom prst="rect">
            <a:avLst/>
          </a:prstGeom>
        </p:spPr>
      </p:pic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Why miRNA Target Prediction Is Hard</a:t>
            </a:r>
            <a:endParaRPr lang="en-US" dirty="0"/>
          </a:p>
        </p:txBody>
      </p:sp>
      <p:sp>
        <p:nvSpPr>
          <p:cNvPr id="74" name="Access Gap Header"/>
          <p:cNvSpPr txBox="1">
            <a:spLocks noGrp="1"/>
          </p:cNvSpPr>
          <p:nvPr/>
        </p:nvSpPr>
        <p:spPr>
          <a:xfrm>
            <a:off x="311700" y="1151461"/>
            <a:ext cx="7875459" cy="42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buNone/>
            </a:pPr>
            <a:r>
              <a:rPr lang="en" sz="1650" b="1" dirty="0">
                <a:solidFill>
                  <a:schemeClr val="dk1"/>
                </a:solidFill>
              </a:rPr>
              <a:t>Millions of candidate pairs, partial evidence, competing answers</a:t>
            </a:r>
            <a:endParaRPr sz="1650" dirty="0"/>
          </a:p>
        </p:txBody>
      </p:sp>
      <p:sp>
        <p:nvSpPr>
          <p:cNvPr id="75" name="Body Bullets"/>
          <p:cNvSpPr txBox="1">
            <a:spLocks noGrp="1"/>
          </p:cNvSpPr>
          <p:nvPr/>
        </p:nvSpPr>
        <p:spPr>
          <a:xfrm>
            <a:off x="526205" y="1701911"/>
            <a:ext cx="7441036" cy="2290128"/>
          </a:xfrm>
          <a:prstGeom prst="rect">
            <a:avLst/>
          </a:prstGeom>
        </p:spPr>
        <p:txBody>
          <a:bodyPr spcFirstLastPara="1" wrap="square" lIns="91425" tIns="45700" rIns="45700" bIns="45700" anchor="t" anchorCtr="0">
            <a:noAutofit/>
          </a:bodyPr>
          <a:lstStyle/>
          <a:p>
            <a:pPr marL="0" lvl="0" indent="0" algn="l" rtl="0">
              <a:spcAft>
                <a:spcPts val="40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Imperfect pairing</a:t>
            </a:r>
            <a:r>
              <a:rPr lang="en" sz="1500" dirty="0">
                <a:solidFill>
                  <a:schemeClr val="dk1"/>
                </a:solidFill>
              </a:rPr>
              <a:t> — functional repression often requires only a seed match (positions 2–7/8), not full complementarity (Lewis et al., 2005)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Combinatorial scale</a:t>
            </a:r>
            <a:r>
              <a:rPr lang="en" sz="1500" dirty="0">
                <a:solidFill>
                  <a:schemeClr val="dk1"/>
                </a:solidFill>
              </a:rPr>
              <a:t> — thousands of miRNAs × tens of thousands of genes yields millions of candidate interactions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Experiments cannot cover it</a:t>
            </a:r>
            <a:r>
              <a:rPr lang="en" sz="1500" dirty="0">
                <a:solidFill>
                  <a:schemeClr val="dk1"/>
                </a:solidFill>
              </a:rPr>
              <a:t> — reporter assays, CLIP, and perturbation studies are costly and incomplete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Prioritization, not enumeration</a:t>
            </a:r>
            <a:r>
              <a:rPr lang="en" sz="1500" dirty="0">
                <a:solidFill>
                  <a:schemeClr val="dk1"/>
                </a:solidFill>
              </a:rPr>
              <a:t> — algorithms rank candidates from partial sequence and context evidence: conservation, accessibility, site type</a:t>
            </a:r>
          </a:p>
        </p:txBody>
      </p:sp>
      <p:sp>
        <p:nvSpPr>
          <p:cNvPr id="77" name="AI Support"/>
          <p:cNvSpPr txBox="1">
            <a:spLocks noGrp="1"/>
          </p:cNvSpPr>
          <p:nvPr/>
        </p:nvSpPr>
        <p:spPr>
          <a:xfrm>
            <a:off x="371874" y="4108308"/>
            <a:ext cx="7595367" cy="88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buNone/>
            </a:pPr>
            <a:r>
              <a:rPr lang="en" sz="1600" i="1" dirty="0">
                <a:solidFill>
                  <a:schemeClr val="dk1"/>
                </a:solidFill>
              </a:rPr>
              <a:t>Different evidence choices produce different ranked lists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lose up of pages of an open book in a bright studio">
            <a:extLst>
              <a:ext uri="{FF2B5EF4-FFF2-40B4-BE49-F238E27FC236}">
                <a16:creationId xmlns:a16="http://schemas.microsoft.com/office/drawing/2014/main" id="{F5FE5F4B-35F3-B349-9D1D-D7B023E132B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alphaModFix amt="8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6000" b="10088"/>
          <a:stretch>
            <a:fillRect/>
          </a:stretch>
        </p:blipFill>
        <p:spPr>
          <a:xfrm>
            <a:off x="-25200" y="0"/>
            <a:ext cx="9194399" cy="5143500"/>
          </a:xfrm>
          <a:prstGeom prst="rect">
            <a:avLst/>
          </a:prstGeom>
        </p:spPr>
      </p:pic>
      <p:pic>
        <p:nvPicPr>
          <p:cNvPr id="104" name="Picture 3" descr="Close up of pages of an open book in a bright studio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alphaModFix amt="11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6000" b="10088"/>
          <a:stretch>
            <a:fillRect/>
          </a:stretch>
        </p:blipFill>
        <p:spPr>
          <a:xfrm>
            <a:off x="0" y="0"/>
            <a:ext cx="9144000" cy="511530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1BEC161-8D07-54B8-E1DB-4A51B2329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miRNAs and Targets</a:t>
            </a:r>
            <a:endParaRPr lang="en-US" dirty="0"/>
          </a:p>
        </p:txBody>
      </p:sp>
      <p:sp>
        <p:nvSpPr>
          <p:cNvPr id="105" name="Access Gap Header"/>
          <p:cNvSpPr txBox="1">
            <a:spLocks noGrp="1"/>
          </p:cNvSpPr>
          <p:nvPr/>
        </p:nvSpPr>
        <p:spPr>
          <a:xfrm>
            <a:off x="311700" y="1151461"/>
            <a:ext cx="7875459" cy="42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buNone/>
            </a:pPr>
            <a:r>
              <a:rPr lang="en" sz="1650" b="1" dirty="0">
                <a:solidFill>
                  <a:schemeClr val="dk1"/>
                </a:solidFill>
              </a:rPr>
              <a:t>Prediction unit and location</a:t>
            </a:r>
            <a:endParaRPr sz="1650" dirty="0"/>
          </a:p>
        </p:txBody>
      </p:sp>
      <p:sp>
        <p:nvSpPr>
          <p:cNvPr id="106" name="Body Bullets"/>
          <p:cNvSpPr txBox="1">
            <a:spLocks noGrp="1"/>
          </p:cNvSpPr>
          <p:nvPr/>
        </p:nvSpPr>
        <p:spPr>
          <a:xfrm>
            <a:off x="526205" y="1701910"/>
            <a:ext cx="7441036" cy="2188917"/>
          </a:xfrm>
          <a:prstGeom prst="rect">
            <a:avLst/>
          </a:prstGeom>
        </p:spPr>
        <p:txBody>
          <a:bodyPr spcFirstLastPara="1" wrap="square" lIns="91425" tIns="45700" rIns="45700" bIns="45700" anchor="t" anchorCtr="0">
            <a:noAutofit/>
          </a:bodyPr>
          <a:lstStyle/>
          <a:p>
            <a:pPr marL="0" lvl="0" indent="0" algn="l" rtl="0">
              <a:spcAft>
                <a:spcPts val="40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miRNAs</a:t>
            </a:r>
            <a:r>
              <a:rPr lang="en" sz="1500" dirty="0">
                <a:solidFill>
                  <a:schemeClr val="dk1"/>
                </a:solidFill>
              </a:rPr>
              <a:t> — ~22-nt non-coding RNAs that repress translation and/or trigger mRNA degradation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Seed region</a:t>
            </a:r>
            <a:r>
              <a:rPr lang="en" sz="1500" dirty="0">
                <a:solidFill>
                  <a:schemeClr val="dk1"/>
                </a:solidFill>
              </a:rPr>
              <a:t> — nt 2–7/8 from the 5′ end is the primary determinant of target recognition (Lewis et al., 2005)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Site location</a:t>
            </a:r>
            <a:r>
              <a:rPr lang="en" sz="1500" dirty="0">
                <a:solidFill>
                  <a:schemeClr val="dk1"/>
                </a:solidFill>
              </a:rPr>
              <a:t> — target sites are most often in the 3′ UTR; DIANA-microT-CDS also scans the CDS (Reczko et al., 2012)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Prediction unit</a:t>
            </a:r>
            <a:r>
              <a:rPr lang="en" sz="1500" dirty="0">
                <a:solidFill>
                  <a:schemeClr val="dk1"/>
                </a:solidFill>
              </a:rPr>
              <a:t> — miRNA → target site(s) on transcript → regulated gene</a:t>
            </a:r>
          </a:p>
        </p:txBody>
      </p:sp>
      <p:sp>
        <p:nvSpPr>
          <p:cNvPr id="107" name="AI Support"/>
          <p:cNvSpPr txBox="1">
            <a:spLocks noGrp="1"/>
          </p:cNvSpPr>
          <p:nvPr/>
        </p:nvSpPr>
        <p:spPr>
          <a:xfrm>
            <a:off x="371874" y="3870864"/>
            <a:ext cx="7595367" cy="88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buNone/>
            </a:pPr>
            <a:r>
              <a:rPr lang="en" sz="1600" i="1" dirty="0">
                <a:solidFill>
                  <a:schemeClr val="dk1"/>
                </a:solidFill>
              </a:rPr>
              <a:t>One miRNA can target many genes; one gene can harbor sites for many miRNAs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F83756E-C52E-EB03-BF65-E60168648577}"/>
              </a:ext>
            </a:extLst>
          </p:cNvPr>
          <p:cNvSpPr/>
          <p:nvPr/>
        </p:nvSpPr>
        <p:spPr>
          <a:xfrm>
            <a:off x="0" y="571500"/>
            <a:ext cx="9144000" cy="40005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" name="Picture 2" descr="Close up of pages of an open book in a bright studio">
            <a:extLst>
              <a:ext uri="{FF2B5EF4-FFF2-40B4-BE49-F238E27FC236}">
                <a16:creationId xmlns:a16="http://schemas.microsoft.com/office/drawing/2014/main" id="{2886B56B-311A-78CD-356F-89FEBE055D7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6000" b="10088"/>
          <a:stretch>
            <a:fillRect/>
          </a:stretch>
        </p:blipFill>
        <p:spPr>
          <a:xfrm>
            <a:off x="-25200" y="0"/>
            <a:ext cx="9194399" cy="5143500"/>
          </a:xfrm>
          <a:prstGeom prst="rect">
            <a:avLst/>
          </a:prstGeom>
        </p:spPr>
      </p:pic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Prediction vs Experimental Validation</a:t>
            </a:r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07EE719-094D-AA43-2574-6002E87FA961}"/>
              </a:ext>
            </a:extLst>
          </p:cNvPr>
          <p:cNvSpPr/>
          <p:nvPr/>
        </p:nvSpPr>
        <p:spPr>
          <a:xfrm>
            <a:off x="381000" y="1238250"/>
            <a:ext cx="3810000" cy="2857500"/>
          </a:xfrm>
          <a:prstGeom prst="roundRect">
            <a:avLst>
              <a:gd name="adj" fmla="val 5333"/>
            </a:avLst>
          </a:prstGeom>
          <a:gradFill>
            <a:gsLst>
              <a:gs pos="0">
                <a:srgbClr val="DBEAFE"/>
              </a:gs>
              <a:gs pos="50000">
                <a:srgbClr val="E5F0FE"/>
              </a:gs>
              <a:gs pos="100000">
                <a:srgbClr val="EFF6FF"/>
              </a:gs>
            </a:gsLst>
            <a:lin ang="5400000" scaled="1"/>
          </a:gradFill>
          <a:ln w="19050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BC963A-00F0-FEFF-11E0-7E705DB66836}"/>
              </a:ext>
            </a:extLst>
          </p:cNvPr>
          <p:cNvSpPr txBox="1"/>
          <p:nvPr/>
        </p:nvSpPr>
        <p:spPr>
          <a:xfrm>
            <a:off x="1785398" y="1340893"/>
            <a:ext cx="1001202" cy="319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50" b="1" spc="0" baseline="0">
                <a:ln/>
                <a:solidFill>
                  <a:srgbClr val="1D4ED8"/>
                </a:solidFill>
                <a:latin typeface="Segoe UI"/>
                <a:cs typeface="Segoe UI"/>
                <a:sym typeface="Segoe UI"/>
                <a:rtl val="0"/>
              </a:rPr>
              <a:t>Predictors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0BB173-7F2F-DB89-317F-629A0522A1AD}"/>
              </a:ext>
            </a:extLst>
          </p:cNvPr>
          <p:cNvSpPr txBox="1"/>
          <p:nvPr/>
        </p:nvSpPr>
        <p:spPr>
          <a:xfrm>
            <a:off x="814951" y="1649460"/>
            <a:ext cx="2942097" cy="2561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spc="0" baseline="0">
                <a:ln/>
                <a:solidFill>
                  <a:srgbClr val="334155"/>
                </a:solidFill>
                <a:latin typeface="Segoe UI"/>
                <a:cs typeface="Segoe UI"/>
                <a:sym typeface="Segoe UI"/>
                <a:rtl val="0"/>
              </a:rPr>
              <a:t>TargetScan • DIANA-microT-CDS • miRDB • mirDIP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1558F6-672F-9CB2-D3E3-35D326D359DF}"/>
              </a:ext>
            </a:extLst>
          </p:cNvPr>
          <p:cNvSpPr txBox="1"/>
          <p:nvPr/>
        </p:nvSpPr>
        <p:spPr>
          <a:xfrm>
            <a:off x="575310" y="2038478"/>
            <a:ext cx="3201602" cy="2814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Question: </a:t>
            </a:r>
            <a:r>
              <a:rPr lang="en-US" sz="1125" b="1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Could this miRNA regulate this gene?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1AF4BB-0DFD-9D21-5560-0AE331ED666B}"/>
              </a:ext>
            </a:extLst>
          </p:cNvPr>
          <p:cNvSpPr txBox="1"/>
          <p:nvPr/>
        </p:nvSpPr>
        <p:spPr>
          <a:xfrm>
            <a:off x="575310" y="2334506"/>
            <a:ext cx="3421696" cy="26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334155"/>
                </a:solidFill>
                <a:latin typeface="Segoe UI"/>
                <a:cs typeface="Segoe UI"/>
                <a:sym typeface="Segoe UI"/>
                <a:rtl val="0"/>
              </a:rPr>
              <a:t>• Computational scores (efficacy, ML, meta-integration)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67F1EB-90E5-7BD4-7117-B348918D7301}"/>
              </a:ext>
            </a:extLst>
          </p:cNvPr>
          <p:cNvSpPr txBox="1"/>
          <p:nvPr/>
        </p:nvSpPr>
        <p:spPr>
          <a:xfrm>
            <a:off x="575310" y="2572631"/>
            <a:ext cx="1803460" cy="26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334155"/>
                </a:solidFill>
                <a:latin typeface="Segoe UI"/>
                <a:cs typeface="Segoe UI"/>
                <a:sym typeface="Segoe UI"/>
                <a:rtl val="0"/>
              </a:rPr>
              <a:t>• Genome-wide ranked lists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660EBD-664C-64B2-0CA0-B5244314DA09}"/>
              </a:ext>
            </a:extLst>
          </p:cNvPr>
          <p:cNvSpPr txBox="1"/>
          <p:nvPr/>
        </p:nvSpPr>
        <p:spPr>
          <a:xfrm>
            <a:off x="575310" y="2810756"/>
            <a:ext cx="2774740" cy="26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334155"/>
                </a:solidFill>
                <a:latin typeface="Segoe UI"/>
                <a:cs typeface="Segoe UI"/>
                <a:sym typeface="Segoe UI"/>
                <a:rtl val="0"/>
              </a:rPr>
              <a:t>• Different scales — not directly comparable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02A944-8FA9-A8C7-AF0A-A68D77027A66}"/>
              </a:ext>
            </a:extLst>
          </p:cNvPr>
          <p:cNvSpPr txBox="1"/>
          <p:nvPr/>
        </p:nvSpPr>
        <p:spPr>
          <a:xfrm>
            <a:off x="575310" y="3249660"/>
            <a:ext cx="2420013" cy="2561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i="1" spc="0" baseline="0">
                <a:ln/>
                <a:solidFill>
                  <a:srgbClr val="64748B"/>
                </a:solidFill>
                <a:latin typeface="Segoe UI"/>
                <a:cs typeface="Segoe UI"/>
                <a:sym typeface="Segoe UI"/>
                <a:rtl val="0"/>
              </a:rPr>
              <a:t>Used for hypothesis ranking in this project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981C4F4-B535-E695-6238-5F0D179E2A0E}"/>
              </a:ext>
            </a:extLst>
          </p:cNvPr>
          <p:cNvSpPr/>
          <p:nvPr/>
        </p:nvSpPr>
        <p:spPr>
          <a:xfrm>
            <a:off x="4953000" y="1238250"/>
            <a:ext cx="3810000" cy="2857500"/>
          </a:xfrm>
          <a:prstGeom prst="roundRect">
            <a:avLst>
              <a:gd name="adj" fmla="val 5333"/>
            </a:avLst>
          </a:prstGeom>
          <a:gradFill>
            <a:gsLst>
              <a:gs pos="0">
                <a:srgbClr val="DCFCE7"/>
              </a:gs>
              <a:gs pos="50000">
                <a:srgbClr val="E6FCED"/>
              </a:gs>
              <a:gs pos="100000">
                <a:srgbClr val="F0FDF4"/>
              </a:gs>
            </a:gsLst>
            <a:lin ang="5400000" scaled="1"/>
          </a:gradFill>
          <a:ln w="19050" cap="flat">
            <a:solidFill>
              <a:srgbClr val="16A34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7EFE45-AE3A-8B83-F59B-395FE405E394}"/>
              </a:ext>
            </a:extLst>
          </p:cNvPr>
          <p:cNvSpPr txBox="1"/>
          <p:nvPr/>
        </p:nvSpPr>
        <p:spPr>
          <a:xfrm>
            <a:off x="6180256" y="1340893"/>
            <a:ext cx="1355487" cy="319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50" b="1" spc="0" baseline="0">
                <a:ln/>
                <a:solidFill>
                  <a:srgbClr val="15803D"/>
                </a:solidFill>
                <a:latin typeface="Segoe UI"/>
                <a:cs typeface="Segoe UI"/>
                <a:sym typeface="Segoe UI"/>
                <a:rtl val="0"/>
              </a:rPr>
              <a:t>Validation DBs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0763ED-1A6F-4F60-DBB1-C2CDEC2475DF}"/>
              </a:ext>
            </a:extLst>
          </p:cNvPr>
          <p:cNvSpPr txBox="1"/>
          <p:nvPr/>
        </p:nvSpPr>
        <p:spPr>
          <a:xfrm>
            <a:off x="5985791" y="1649460"/>
            <a:ext cx="1744417" cy="2561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spc="0" baseline="0">
                <a:ln/>
                <a:solidFill>
                  <a:srgbClr val="334155"/>
                </a:solidFill>
                <a:latin typeface="Segoe UI"/>
                <a:cs typeface="Segoe UI"/>
                <a:sym typeface="Segoe UI"/>
                <a:rtl val="0"/>
              </a:rPr>
              <a:t>miRTarBase • DIANA-TarBase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587F65-B2F8-31A9-EE42-DB66B18ED527}"/>
              </a:ext>
            </a:extLst>
          </p:cNvPr>
          <p:cNvSpPr txBox="1"/>
          <p:nvPr/>
        </p:nvSpPr>
        <p:spPr>
          <a:xfrm>
            <a:off x="5147310" y="2038478"/>
            <a:ext cx="3157721" cy="2814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25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Question: </a:t>
            </a:r>
            <a:r>
              <a:rPr lang="en-US" sz="1125" b="1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Has this interaction been supported?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8AAA6B-7C7C-AEA8-4E5B-35947A19A69F}"/>
              </a:ext>
            </a:extLst>
          </p:cNvPr>
          <p:cNvSpPr txBox="1"/>
          <p:nvPr/>
        </p:nvSpPr>
        <p:spPr>
          <a:xfrm>
            <a:off x="5147310" y="2334506"/>
            <a:ext cx="2653891" cy="26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 dirty="0">
                <a:ln/>
                <a:solidFill>
                  <a:srgbClr val="334155"/>
                </a:solidFill>
                <a:latin typeface="Segoe UI"/>
                <a:cs typeface="Segoe UI"/>
                <a:sym typeface="Segoe UI"/>
                <a:rtl val="0"/>
              </a:rPr>
              <a:t>• Reporter assay, Western, qPCR, CLIP, etc.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420308-61BB-4ADB-A0BF-42D54B258A44}"/>
              </a:ext>
            </a:extLst>
          </p:cNvPr>
          <p:cNvSpPr txBox="1"/>
          <p:nvPr/>
        </p:nvSpPr>
        <p:spPr>
          <a:xfrm>
            <a:off x="5147310" y="2572631"/>
            <a:ext cx="2001727" cy="26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334155"/>
                </a:solidFill>
                <a:latin typeface="Segoe UI"/>
                <a:cs typeface="Segoe UI"/>
                <a:sym typeface="Segoe UI"/>
                <a:rtl val="0"/>
              </a:rPr>
              <a:t>• Strong vs weak evidence tiers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FD99CF-97D6-A8B3-AC1F-E1390A13FE85}"/>
              </a:ext>
            </a:extLst>
          </p:cNvPr>
          <p:cNvSpPr txBox="1"/>
          <p:nvPr/>
        </p:nvSpPr>
        <p:spPr>
          <a:xfrm>
            <a:off x="5147310" y="2810756"/>
            <a:ext cx="2665221" cy="26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334155"/>
                </a:solidFill>
                <a:latin typeface="Segoe UI"/>
                <a:cs typeface="Segoe UI"/>
                <a:sym typeface="Segoe UI"/>
                <a:rtl val="0"/>
              </a:rPr>
              <a:t>• Sparse coverage — absence ≠ disproven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B2EF4E-5584-8A3B-9F4A-D24FE9205C04}"/>
              </a:ext>
            </a:extLst>
          </p:cNvPr>
          <p:cNvSpPr txBox="1"/>
          <p:nvPr/>
        </p:nvSpPr>
        <p:spPr>
          <a:xfrm>
            <a:off x="5147310" y="3249660"/>
            <a:ext cx="2587975" cy="2561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i="1" spc="0" baseline="0">
                <a:ln/>
                <a:solidFill>
                  <a:srgbClr val="64748B"/>
                </a:solidFill>
                <a:latin typeface="Segoe UI"/>
                <a:cs typeface="Segoe UI"/>
                <a:sym typeface="Segoe UI"/>
                <a:rtl val="0"/>
              </a:rPr>
              <a:t>Read-only overlay — never mixed into scores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29CCE28-D4E4-8EBD-D523-E59D2182F4C7}"/>
              </a:ext>
            </a:extLst>
          </p:cNvPr>
          <p:cNvSpPr/>
          <p:nvPr/>
        </p:nvSpPr>
        <p:spPr>
          <a:xfrm>
            <a:off x="4191000" y="2667000"/>
            <a:ext cx="762000" cy="9525"/>
          </a:xfrm>
          <a:custGeom>
            <a:avLst/>
            <a:gdLst>
              <a:gd name="csX0" fmla="*/ 0 w 762000"/>
              <a:gd name="csY0" fmla="*/ 0 h 9525"/>
              <a:gd name="csX1" fmla="*/ 762000 w 76200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19050" cap="flat">
            <a:solidFill>
              <a:srgbClr val="475569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1E831E-B1E6-C83F-A788-ACB02E5D9355}"/>
              </a:ext>
            </a:extLst>
          </p:cNvPr>
          <p:cNvSpPr txBox="1"/>
          <p:nvPr/>
        </p:nvSpPr>
        <p:spPr>
          <a:xfrm>
            <a:off x="4255615" y="2402688"/>
            <a:ext cx="632768" cy="243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 dirty="0">
                <a:ln/>
                <a:solidFill>
                  <a:srgbClr val="475569"/>
                </a:solidFill>
                <a:latin typeface="Segoe UI"/>
                <a:cs typeface="Segoe UI"/>
                <a:sym typeface="Segoe UI"/>
                <a:rtl val="0"/>
              </a:rPr>
              <a:t>annotate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B92EEC6-2C8A-F25C-D91B-7512FE278C72}"/>
              </a:ext>
            </a:extLst>
          </p:cNvPr>
          <p:cNvSpPr/>
          <p:nvPr/>
        </p:nvSpPr>
        <p:spPr>
          <a:xfrm>
            <a:off x="2667000" y="3810000"/>
            <a:ext cx="3810000" cy="457200"/>
          </a:xfrm>
          <a:prstGeom prst="roundRect">
            <a:avLst>
              <a:gd name="adj" fmla="val 20833"/>
            </a:avLst>
          </a:prstGeom>
          <a:solidFill>
            <a:srgbClr val="FEF3C7"/>
          </a:solidFill>
          <a:ln w="14288" cap="flat">
            <a:solidFill>
              <a:srgbClr val="F59E0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45DF35-E014-48B1-3B4B-37B197233A28}"/>
              </a:ext>
            </a:extLst>
          </p:cNvPr>
          <p:cNvSpPr txBox="1"/>
          <p:nvPr/>
        </p:nvSpPr>
        <p:spPr>
          <a:xfrm>
            <a:off x="2636644" y="3906131"/>
            <a:ext cx="3870710" cy="26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spc="0" baseline="0" dirty="0">
                <a:ln/>
                <a:solidFill>
                  <a:srgbClr val="92400E"/>
                </a:solidFill>
                <a:latin typeface="Segoe UI"/>
                <a:cs typeface="Segoe UI"/>
                <a:sym typeface="Segoe UI"/>
                <a:rtl val="0"/>
              </a:rPr>
              <a:t>Rank predictions first → overlay </a:t>
            </a:r>
            <a:r>
              <a:rPr lang="en-US" sz="1050" b="1" spc="0" baseline="0" dirty="0" err="1">
                <a:ln/>
                <a:solidFill>
                  <a:srgbClr val="92400E"/>
                </a:solidFill>
                <a:latin typeface="Segoe UI"/>
                <a:cs typeface="Segoe UI"/>
                <a:sym typeface="Segoe UI"/>
                <a:rtl val="0"/>
              </a:rPr>
              <a:t>experimental_support</a:t>
            </a:r>
            <a:r>
              <a:rPr lang="en-US" sz="1050" b="1" spc="0" baseline="0" dirty="0">
                <a:ln/>
                <a:solidFill>
                  <a:srgbClr val="92400E"/>
                </a:solidFill>
                <a:latin typeface="Segoe UI"/>
                <a:cs typeface="Segoe UI"/>
                <a:sym typeface="Segoe UI"/>
                <a:rtl val="0"/>
              </a:rPr>
              <a:t> flag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B2963255-3806-EAD1-D366-1690768A2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3" descr="Close up of pages of an open book in a bright studio">
            <a:extLst>
              <a:ext uri="{FF2B5EF4-FFF2-40B4-BE49-F238E27FC236}">
                <a16:creationId xmlns:a16="http://schemas.microsoft.com/office/drawing/2014/main" id="{209088EA-E270-4B98-815A-D8DEA99B60C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alphaModFix amt="11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6000" b="10088"/>
          <a:stretch>
            <a:fillRect/>
          </a:stretch>
        </p:blipFill>
        <p:spPr>
          <a:xfrm>
            <a:off x="0" y="0"/>
            <a:ext cx="9144000" cy="5115305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B56EAE59-E927-5BED-58F9-3657D8686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Prediction vs Experimental Validation</a:t>
            </a:r>
            <a:endParaRPr lang="en-US" dirty="0"/>
          </a:p>
        </p:txBody>
      </p:sp>
      <p:sp>
        <p:nvSpPr>
          <p:cNvPr id="30" name="Subhead"/>
          <p:cNvSpPr txBox="1">
            <a:spLocks noGrp="1"/>
          </p:cNvSpPr>
          <p:nvPr/>
        </p:nvSpPr>
        <p:spPr>
          <a:xfrm>
            <a:off x="311700" y="1151461"/>
            <a:ext cx="7875459" cy="42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buNone/>
            </a:pPr>
            <a:r>
              <a:rPr lang="en" sz="1650" b="1" dirty="0">
                <a:solidFill>
                  <a:schemeClr val="dk1"/>
                </a:solidFill>
              </a:rPr>
              <a:t>Two different questions, two different kinds of evidence</a:t>
            </a:r>
            <a:endParaRPr sz="1650" dirty="0"/>
          </a:p>
        </p:txBody>
      </p:sp>
      <p:sp>
        <p:nvSpPr>
          <p:cNvPr id="31" name="Body Bullets"/>
          <p:cNvSpPr txBox="1">
            <a:spLocks noGrp="1"/>
          </p:cNvSpPr>
          <p:nvPr/>
        </p:nvSpPr>
        <p:spPr>
          <a:xfrm>
            <a:off x="526205" y="1646380"/>
            <a:ext cx="7441036" cy="2713619"/>
          </a:xfrm>
          <a:prstGeom prst="rect">
            <a:avLst/>
          </a:prstGeom>
        </p:spPr>
        <p:txBody>
          <a:bodyPr spcFirstLastPara="1" wrap="square" lIns="91425" tIns="45700" rIns="45700" bIns="45700" anchor="t" anchorCtr="0">
            <a:noAutofit/>
          </a:bodyPr>
          <a:lstStyle/>
          <a:p>
            <a:pPr marL="0" lvl="0" indent="0" algn="l" rtl="0">
              <a:spcAft>
                <a:spcPts val="40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Predictors (computational)</a:t>
            </a:r>
            <a:r>
              <a:rPr lang="en" sz="1500" dirty="0">
                <a:solidFill>
                  <a:schemeClr val="dk1"/>
                </a:solidFill>
              </a:rPr>
              <a:t> — TargetScan, DIANA-microT-CDS, miRDB and mirDIP ask whether this miRNA </a:t>
            </a:r>
            <a:r>
              <a:rPr lang="en" sz="1500" i="1" dirty="0">
                <a:solidFill>
                  <a:schemeClr val="dk1"/>
                </a:solidFill>
              </a:rPr>
              <a:t>could</a:t>
            </a:r>
            <a:r>
              <a:rPr lang="en" sz="1500" dirty="0">
                <a:solidFill>
                  <a:schemeClr val="dk1"/>
                </a:solidFill>
              </a:rPr>
              <a:t> regulate this gene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Validation databases (experimental)</a:t>
            </a:r>
            <a:r>
              <a:rPr lang="en" sz="1500" dirty="0">
                <a:solidFill>
                  <a:schemeClr val="dk1"/>
                </a:solidFill>
              </a:rPr>
              <a:t> — miRTarBase and DIANA-TarBase ask whether this interaction </a:t>
            </a:r>
            <a:r>
              <a:rPr lang="en" sz="1500" i="1" dirty="0">
                <a:solidFill>
                  <a:schemeClr val="dk1"/>
                </a:solidFill>
              </a:rPr>
              <a:t>has</a:t>
            </a:r>
            <a:r>
              <a:rPr lang="en" sz="1500" dirty="0">
                <a:solidFill>
                  <a:schemeClr val="dk1"/>
                </a:solidFill>
              </a:rPr>
              <a:t> been supported in the lab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Not prediction algorithms</a:t>
            </a:r>
            <a:r>
              <a:rPr lang="en" sz="1500" dirty="0">
                <a:solidFill>
                  <a:schemeClr val="dk1"/>
                </a:solidFill>
              </a:rPr>
              <a:t> — validation DBs must never be treated as predictors, nor their evidence mixed into predictor scores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Evidence types</a:t>
            </a:r>
            <a:r>
              <a:rPr lang="en" sz="1500" dirty="0">
                <a:solidFill>
                  <a:schemeClr val="dk1"/>
                </a:solidFill>
              </a:rPr>
              <a:t> — reporter assays, qPCR and Western blot, CLIP, and knockdown or overexpression studies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Pipeline</a:t>
            </a:r>
            <a:r>
              <a:rPr lang="en" sz="1500" dirty="0">
                <a:solidFill>
                  <a:schemeClr val="dk1"/>
                </a:solidFill>
              </a:rPr>
              <a:t> — rank predictions first, then optionally overlay experimental support as a read-only reference layer</a:t>
            </a:r>
          </a:p>
        </p:txBody>
      </p:sp>
      <p:sp>
        <p:nvSpPr>
          <p:cNvPr id="32" name="Closing Note"/>
          <p:cNvSpPr txBox="1">
            <a:spLocks noGrp="1"/>
          </p:cNvSpPr>
          <p:nvPr/>
        </p:nvSpPr>
        <p:spPr>
          <a:xfrm>
            <a:off x="371874" y="4360000"/>
            <a:ext cx="8100000" cy="5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buNone/>
            </a:pPr>
            <a:r>
              <a:rPr lang="en" sz="1600" i="1" dirty="0">
                <a:solidFill>
                  <a:schemeClr val="dk1"/>
                </a:solidFill>
              </a:rPr>
              <a:t>Prediction proposes, experiment confirms</a:t>
            </a:r>
          </a:p>
        </p:txBody>
      </p:sp>
    </p:spTree>
    <p:extLst>
      <p:ext uri="{BB962C8B-B14F-4D97-AF65-F5344CB8AC3E}">
        <p14:creationId xmlns:p14="http://schemas.microsoft.com/office/powerpoint/2010/main" val="1770584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88DB64BB-4CA1-CC29-8257-B64221DD8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50F5B03-6AB4-92E2-F91F-8E3AF9F61D4B}"/>
              </a:ext>
            </a:extLst>
          </p:cNvPr>
          <p:cNvSpPr/>
          <p:nvPr/>
        </p:nvSpPr>
        <p:spPr>
          <a:xfrm>
            <a:off x="0" y="981075"/>
            <a:ext cx="9144000" cy="26670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 descr="Close up of pages of an open book in a bright studio">
            <a:extLst>
              <a:ext uri="{FF2B5EF4-FFF2-40B4-BE49-F238E27FC236}">
                <a16:creationId xmlns:a16="http://schemas.microsoft.com/office/drawing/2014/main" id="{B134F5DC-AEEC-5E21-BFBA-A8155F434E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6000" b="10088"/>
          <a:stretch>
            <a:fillRect/>
          </a:stretch>
        </p:blipFill>
        <p:spPr>
          <a:xfrm>
            <a:off x="-25200" y="0"/>
            <a:ext cx="9194399" cy="51435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04994663-0554-CE8F-1936-F476BA8A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Prediction Pipeline</a:t>
            </a:r>
            <a:endParaRPr lang="en-US" dirty="0"/>
          </a:p>
        </p:txBody>
      </p:sp>
      <p:grpSp>
        <p:nvGrpSpPr>
          <p:cNvPr id="11" name="Graphic 5">
            <a:extLst>
              <a:ext uri="{FF2B5EF4-FFF2-40B4-BE49-F238E27FC236}">
                <a16:creationId xmlns:a16="http://schemas.microsoft.com/office/drawing/2014/main" id="{7E4241B6-EBE0-D581-CC8B-9F07F0A9812A}"/>
              </a:ext>
            </a:extLst>
          </p:cNvPr>
          <p:cNvGrpSpPr/>
          <p:nvPr/>
        </p:nvGrpSpPr>
        <p:grpSpPr>
          <a:xfrm>
            <a:off x="190500" y="1622006"/>
            <a:ext cx="8763000" cy="609600"/>
            <a:chOff x="190500" y="2000250"/>
            <a:chExt cx="8763000" cy="6096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05AD859-FF66-D2A8-B0BA-5A2D101CC7F8}"/>
                </a:ext>
              </a:extLst>
            </p:cNvPr>
            <p:cNvSpPr/>
            <p:nvPr/>
          </p:nvSpPr>
          <p:spPr>
            <a:xfrm>
              <a:off x="190500" y="2000250"/>
              <a:ext cx="1238250" cy="609600"/>
            </a:xfrm>
            <a:prstGeom prst="roundRect">
              <a:avLst>
                <a:gd name="adj" fmla="val 15625"/>
              </a:avLst>
            </a:prstGeom>
            <a:solidFill>
              <a:srgbClr val="E0E7FF"/>
            </a:solidFill>
            <a:ln w="9525" cap="flat">
              <a:solidFill>
                <a:srgbClr val="6366F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07CB3AE-9A3C-A838-EA51-4E813BCA36DB}"/>
                </a:ext>
              </a:extLst>
            </p:cNvPr>
            <p:cNvSpPr txBox="1"/>
            <p:nvPr/>
          </p:nvSpPr>
          <p:spPr>
            <a:xfrm>
              <a:off x="561166" y="2087610"/>
              <a:ext cx="496916" cy="256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75" b="1" spc="0" baseline="0" dirty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Input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6281FBB-54ED-AF70-1807-4C2D5F437BE6}"/>
                </a:ext>
              </a:extLst>
            </p:cNvPr>
            <p:cNvSpPr txBox="1"/>
            <p:nvPr/>
          </p:nvSpPr>
          <p:spPr>
            <a:xfrm>
              <a:off x="273377" y="2298667"/>
              <a:ext cx="1072495" cy="230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825" spc="0" baseline="0" dirty="0">
                  <a:ln/>
                  <a:solidFill>
                    <a:srgbClr val="475569"/>
                  </a:solidFill>
                  <a:latin typeface="Segoe UI"/>
                  <a:cs typeface="Segoe UI"/>
                  <a:sym typeface="Segoe UI"/>
                  <a:rtl val="0"/>
                </a:rPr>
                <a:t>miRNA + transcript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A352EBF6-8F0B-E739-74F2-5D516BD52D50}"/>
                </a:ext>
              </a:extLst>
            </p:cNvPr>
            <p:cNvSpPr/>
            <p:nvPr/>
          </p:nvSpPr>
          <p:spPr>
            <a:xfrm>
              <a:off x="1619250" y="2000250"/>
              <a:ext cx="1428750" cy="609600"/>
            </a:xfrm>
            <a:prstGeom prst="roundRect">
              <a:avLst>
                <a:gd name="adj" fmla="val 15625"/>
              </a:avLst>
            </a:prstGeom>
            <a:solidFill>
              <a:srgbClr val="DBEAFE"/>
            </a:solidFill>
            <a:ln w="9525" cap="flat">
              <a:solidFill>
                <a:srgbClr val="2563E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075FA13-EAF1-8CB9-2B26-B5C3D4CBD645}"/>
                </a:ext>
              </a:extLst>
            </p:cNvPr>
            <p:cNvSpPr txBox="1"/>
            <p:nvPr/>
          </p:nvSpPr>
          <p:spPr>
            <a:xfrm>
              <a:off x="1801360" y="2087610"/>
              <a:ext cx="1064528" cy="256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75" b="1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Candidate sites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BE273B4-112E-9098-CBEB-8BC958278A7F}"/>
                </a:ext>
              </a:extLst>
            </p:cNvPr>
            <p:cNvSpPr txBox="1"/>
            <p:nvPr/>
          </p:nvSpPr>
          <p:spPr>
            <a:xfrm>
              <a:off x="1739745" y="2298667"/>
              <a:ext cx="1187758" cy="230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825" spc="0" baseline="0">
                  <a:ln/>
                  <a:solidFill>
                    <a:srgbClr val="475569"/>
                  </a:solidFill>
                  <a:latin typeface="Segoe UI"/>
                  <a:cs typeface="Segoe UI"/>
                  <a:sym typeface="Segoe UI"/>
                  <a:rtl val="0"/>
                </a:rPr>
                <a:t>Seed / extended rules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531EEC5-4DB2-EE40-5BC8-780EBD2042F0}"/>
                </a:ext>
              </a:extLst>
            </p:cNvPr>
            <p:cNvSpPr/>
            <p:nvPr/>
          </p:nvSpPr>
          <p:spPr>
            <a:xfrm>
              <a:off x="3238500" y="2000250"/>
              <a:ext cx="1428750" cy="609600"/>
            </a:xfrm>
            <a:prstGeom prst="roundRect">
              <a:avLst>
                <a:gd name="adj" fmla="val 15625"/>
              </a:avLst>
            </a:prstGeom>
            <a:solidFill>
              <a:srgbClr val="CFFAFE"/>
            </a:solidFill>
            <a:ln w="9525" cap="flat">
              <a:solidFill>
                <a:srgbClr val="0891B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551C33F-4427-836A-D489-E7538CDEC9F1}"/>
                </a:ext>
              </a:extLst>
            </p:cNvPr>
            <p:cNvSpPr txBox="1"/>
            <p:nvPr/>
          </p:nvSpPr>
          <p:spPr>
            <a:xfrm>
              <a:off x="3521641" y="2087610"/>
              <a:ext cx="862466" cy="256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75" b="1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Site scoring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751E4B6-2D57-C36C-099D-F3E25410A0B4}"/>
                </a:ext>
              </a:extLst>
            </p:cNvPr>
            <p:cNvSpPr txBox="1"/>
            <p:nvPr/>
          </p:nvSpPr>
          <p:spPr>
            <a:xfrm>
              <a:off x="3373448" y="2298667"/>
              <a:ext cx="1158852" cy="230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825" spc="0" baseline="0">
                  <a:ln/>
                  <a:solidFill>
                    <a:srgbClr val="475569"/>
                  </a:solidFill>
                  <a:latin typeface="Segoe UI"/>
                  <a:cs typeface="Segoe UI"/>
                  <a:sym typeface="Segoe UI"/>
                  <a:rtl val="0"/>
                </a:rPr>
                <a:t>Tool-specific features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5293FA5-B794-6B05-B693-14CB5F61A9CA}"/>
                </a:ext>
              </a:extLst>
            </p:cNvPr>
            <p:cNvSpPr/>
            <p:nvPr/>
          </p:nvSpPr>
          <p:spPr>
            <a:xfrm>
              <a:off x="4857750" y="2000250"/>
              <a:ext cx="1428750" cy="609600"/>
            </a:xfrm>
            <a:prstGeom prst="roundRect">
              <a:avLst>
                <a:gd name="adj" fmla="val 15625"/>
              </a:avLst>
            </a:prstGeom>
            <a:solidFill>
              <a:srgbClr val="EDE9FE"/>
            </a:solidFill>
            <a:ln w="9525" cap="flat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14DA82C-0A07-7995-284C-084F71159D94}"/>
                </a:ext>
              </a:extLst>
            </p:cNvPr>
            <p:cNvSpPr txBox="1"/>
            <p:nvPr/>
          </p:nvSpPr>
          <p:spPr>
            <a:xfrm>
              <a:off x="5113956" y="2087610"/>
              <a:ext cx="916337" cy="256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75" b="1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Aggregation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4D7E0CC-D3FB-FFCD-F561-558FD0C7881D}"/>
                </a:ext>
              </a:extLst>
            </p:cNvPr>
            <p:cNvSpPr txBox="1"/>
            <p:nvPr/>
          </p:nvSpPr>
          <p:spPr>
            <a:xfrm>
              <a:off x="5017510" y="2298667"/>
              <a:ext cx="1109228" cy="230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825" spc="0" baseline="0">
                  <a:ln/>
                  <a:solidFill>
                    <a:srgbClr val="475569"/>
                  </a:solidFill>
                  <a:latin typeface="Segoe UI"/>
                  <a:cs typeface="Segoe UI"/>
                  <a:sym typeface="Segoe UI"/>
                  <a:rtl val="0"/>
                </a:rPr>
                <a:t>Site → gene–miRNA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1AF1AC42-3FED-202E-C537-F0198A513548}"/>
                </a:ext>
              </a:extLst>
            </p:cNvPr>
            <p:cNvSpPr/>
            <p:nvPr/>
          </p:nvSpPr>
          <p:spPr>
            <a:xfrm>
              <a:off x="6477000" y="2000250"/>
              <a:ext cx="1238250" cy="609600"/>
            </a:xfrm>
            <a:prstGeom prst="roundRect">
              <a:avLst>
                <a:gd name="adj" fmla="val 15625"/>
              </a:avLst>
            </a:prstGeom>
            <a:solidFill>
              <a:srgbClr val="FEF3C7"/>
            </a:solidFill>
            <a:ln w="9525" cap="flat">
              <a:solidFill>
                <a:srgbClr val="D9770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72373B6-8054-82E0-70B0-00AA0CE9B3FA}"/>
                </a:ext>
              </a:extLst>
            </p:cNvPr>
            <p:cNvSpPr txBox="1"/>
            <p:nvPr/>
          </p:nvSpPr>
          <p:spPr>
            <a:xfrm>
              <a:off x="6714953" y="2087610"/>
              <a:ext cx="762342" cy="256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75" b="1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Threshold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97EAB59-2390-354E-B411-EC9B3A03ADC0}"/>
                </a:ext>
              </a:extLst>
            </p:cNvPr>
            <p:cNvSpPr txBox="1"/>
            <p:nvPr/>
          </p:nvSpPr>
          <p:spPr>
            <a:xfrm>
              <a:off x="6567295" y="2298667"/>
              <a:ext cx="1057659" cy="230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825" spc="0" baseline="0">
                  <a:ln/>
                  <a:solidFill>
                    <a:srgbClr val="475569"/>
                  </a:solidFill>
                  <a:latin typeface="Segoe UI"/>
                  <a:cs typeface="Segoe UI"/>
                  <a:sym typeface="Segoe UI"/>
                  <a:rtl val="0"/>
                </a:rPr>
                <a:t>Tool-specific cutoff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DE3B25B6-EB0D-BA65-989E-DE4B22FBFACC}"/>
                </a:ext>
              </a:extLst>
            </p:cNvPr>
            <p:cNvSpPr/>
            <p:nvPr/>
          </p:nvSpPr>
          <p:spPr>
            <a:xfrm>
              <a:off x="7905750" y="2000250"/>
              <a:ext cx="1047750" cy="609600"/>
            </a:xfrm>
            <a:prstGeom prst="roundRect">
              <a:avLst>
                <a:gd name="adj" fmla="val 15625"/>
              </a:avLst>
            </a:prstGeom>
            <a:solidFill>
              <a:srgbClr val="DCFCE7"/>
            </a:solidFill>
            <a:ln w="9525" cap="flat">
              <a:solidFill>
                <a:srgbClr val="16A34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DB27293-A5AD-D480-DC46-F711EBC6A647}"/>
                </a:ext>
              </a:extLst>
            </p:cNvPr>
            <p:cNvSpPr txBox="1"/>
            <p:nvPr/>
          </p:nvSpPr>
          <p:spPr>
            <a:xfrm>
              <a:off x="8129744" y="2087610"/>
              <a:ext cx="599761" cy="256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75" b="1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Output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DC4CA6A-510A-E247-EECD-66CA854766D1}"/>
                </a:ext>
              </a:extLst>
            </p:cNvPr>
            <p:cNvSpPr txBox="1"/>
            <p:nvPr/>
          </p:nvSpPr>
          <p:spPr>
            <a:xfrm>
              <a:off x="8086556" y="2298667"/>
              <a:ext cx="686137" cy="230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825" spc="0" baseline="0">
                  <a:ln/>
                  <a:solidFill>
                    <a:srgbClr val="475569"/>
                  </a:solidFill>
                  <a:latin typeface="Segoe UI"/>
                  <a:cs typeface="Segoe UI"/>
                  <a:sym typeface="Segoe UI"/>
                  <a:rtl val="0"/>
                </a:rPr>
                <a:t>Ranked list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CAF538D-EAFB-4B2C-43F4-30A474C62559}"/>
                </a:ext>
              </a:extLst>
            </p:cNvPr>
            <p:cNvSpPr txBox="1"/>
            <p:nvPr/>
          </p:nvSpPr>
          <p:spPr>
            <a:xfrm>
              <a:off x="561165" y="2090214"/>
              <a:ext cx="496916" cy="256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75" b="1" spc="0" baseline="0" dirty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Input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0A8E253-B82B-F49C-48A5-976CC4EFA193}"/>
                </a:ext>
              </a:extLst>
            </p:cNvPr>
            <p:cNvSpPr txBox="1"/>
            <p:nvPr/>
          </p:nvSpPr>
          <p:spPr>
            <a:xfrm>
              <a:off x="1801359" y="2090214"/>
              <a:ext cx="1064528" cy="256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75" b="1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Candidate sites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B4717D7-4CED-89CE-9D3B-973CB59ABA78}"/>
                </a:ext>
              </a:extLst>
            </p:cNvPr>
            <p:cNvSpPr txBox="1"/>
            <p:nvPr/>
          </p:nvSpPr>
          <p:spPr>
            <a:xfrm>
              <a:off x="3521640" y="2090214"/>
              <a:ext cx="862466" cy="256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75" b="1" spc="0" baseline="0" dirty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Site scoring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00080FA-C1EC-A4AA-EF42-5ECDCEA30A1A}"/>
                </a:ext>
              </a:extLst>
            </p:cNvPr>
            <p:cNvSpPr txBox="1"/>
            <p:nvPr/>
          </p:nvSpPr>
          <p:spPr>
            <a:xfrm>
              <a:off x="5113955" y="2090214"/>
              <a:ext cx="916337" cy="256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75" b="1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Aggregation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B3F4433-CE4A-F5A2-03F2-24AB70BF5740}"/>
                </a:ext>
              </a:extLst>
            </p:cNvPr>
            <p:cNvSpPr txBox="1"/>
            <p:nvPr/>
          </p:nvSpPr>
          <p:spPr>
            <a:xfrm>
              <a:off x="6714952" y="2090214"/>
              <a:ext cx="762342" cy="256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75" b="1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Threshold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16E7B6B-2C6C-B64E-A449-337AF8832667}"/>
                </a:ext>
              </a:extLst>
            </p:cNvPr>
            <p:cNvSpPr txBox="1"/>
            <p:nvPr/>
          </p:nvSpPr>
          <p:spPr>
            <a:xfrm>
              <a:off x="8129743" y="2090214"/>
              <a:ext cx="599761" cy="256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75" b="1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Output</a:t>
              </a:r>
            </a:p>
          </p:txBody>
        </p:sp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DB0C528-8EBE-A52E-4DA1-456F2EE754AE}"/>
              </a:ext>
            </a:extLst>
          </p:cNvPr>
          <p:cNvSpPr/>
          <p:nvPr/>
        </p:nvSpPr>
        <p:spPr>
          <a:xfrm>
            <a:off x="1428750" y="1956184"/>
            <a:ext cx="190500" cy="9525"/>
          </a:xfrm>
          <a:custGeom>
            <a:avLst/>
            <a:gdLst>
              <a:gd name="csX0" fmla="*/ 0 w 190500"/>
              <a:gd name="csY0" fmla="*/ 0 h 9525"/>
              <a:gd name="csX1" fmla="*/ 190500 w 19050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ln w="19050" cap="flat">
            <a:solidFill>
              <a:srgbClr val="33415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5B4F017-B790-6E91-6CB5-D63F059A2496}"/>
              </a:ext>
            </a:extLst>
          </p:cNvPr>
          <p:cNvSpPr/>
          <p:nvPr/>
        </p:nvSpPr>
        <p:spPr>
          <a:xfrm>
            <a:off x="3048000" y="1956184"/>
            <a:ext cx="190500" cy="9525"/>
          </a:xfrm>
          <a:custGeom>
            <a:avLst/>
            <a:gdLst>
              <a:gd name="csX0" fmla="*/ 0 w 190500"/>
              <a:gd name="csY0" fmla="*/ 0 h 9525"/>
              <a:gd name="csX1" fmla="*/ 190500 w 19050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ln w="19050" cap="flat">
            <a:solidFill>
              <a:srgbClr val="33415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A218B560-653E-7DBD-A6F1-ED032343B8DA}"/>
              </a:ext>
            </a:extLst>
          </p:cNvPr>
          <p:cNvSpPr/>
          <p:nvPr/>
        </p:nvSpPr>
        <p:spPr>
          <a:xfrm>
            <a:off x="4667250" y="1956184"/>
            <a:ext cx="190500" cy="9525"/>
          </a:xfrm>
          <a:custGeom>
            <a:avLst/>
            <a:gdLst>
              <a:gd name="csX0" fmla="*/ 0 w 190500"/>
              <a:gd name="csY0" fmla="*/ 0 h 9525"/>
              <a:gd name="csX1" fmla="*/ 190500 w 19050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ln w="19050" cap="flat">
            <a:solidFill>
              <a:srgbClr val="33415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D5B69720-8CA2-30D7-362F-2EBADE36455B}"/>
              </a:ext>
            </a:extLst>
          </p:cNvPr>
          <p:cNvSpPr/>
          <p:nvPr/>
        </p:nvSpPr>
        <p:spPr>
          <a:xfrm>
            <a:off x="6286500" y="1956184"/>
            <a:ext cx="190500" cy="9525"/>
          </a:xfrm>
          <a:custGeom>
            <a:avLst/>
            <a:gdLst>
              <a:gd name="csX0" fmla="*/ 0 w 190500"/>
              <a:gd name="csY0" fmla="*/ 0 h 9525"/>
              <a:gd name="csX1" fmla="*/ 190500 w 19050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ln w="19050" cap="flat">
            <a:solidFill>
              <a:srgbClr val="33415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ED1DDE86-2322-BDCB-7EBC-E3833D47884D}"/>
              </a:ext>
            </a:extLst>
          </p:cNvPr>
          <p:cNvSpPr/>
          <p:nvPr/>
        </p:nvSpPr>
        <p:spPr>
          <a:xfrm>
            <a:off x="7715250" y="1956184"/>
            <a:ext cx="190500" cy="9525"/>
          </a:xfrm>
          <a:custGeom>
            <a:avLst/>
            <a:gdLst>
              <a:gd name="csX0" fmla="*/ 0 w 190500"/>
              <a:gd name="csY0" fmla="*/ 0 h 9525"/>
              <a:gd name="csX1" fmla="*/ 190500 w 19050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ln w="19050" cap="flat">
            <a:solidFill>
              <a:srgbClr val="33415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E0923D-89A5-4FF7-E81F-88EB0D847B9C}"/>
              </a:ext>
            </a:extLst>
          </p:cNvPr>
          <p:cNvSpPr txBox="1"/>
          <p:nvPr/>
        </p:nvSpPr>
        <p:spPr>
          <a:xfrm>
            <a:off x="75094" y="3429305"/>
            <a:ext cx="91646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spc="0" baseline="0" dirty="0">
                <a:ln/>
                <a:solidFill>
                  <a:srgbClr val="334155"/>
                </a:solidFill>
                <a:latin typeface="+mn-lt"/>
                <a:cs typeface="Segoe UI"/>
                <a:sym typeface="Segoe UI"/>
                <a:rtl val="0"/>
              </a:rPr>
              <a:t>Each tool differs at every step — especially seed rules, features, aggregation, and score semantics</a:t>
            </a:r>
          </a:p>
        </p:txBody>
      </p:sp>
      <p:grpSp>
        <p:nvGrpSpPr>
          <p:cNvPr id="39" name="Graphic 5">
            <a:extLst>
              <a:ext uri="{FF2B5EF4-FFF2-40B4-BE49-F238E27FC236}">
                <a16:creationId xmlns:a16="http://schemas.microsoft.com/office/drawing/2014/main" id="{20F1D132-53CA-B5D0-CC2D-22028D287759}"/>
              </a:ext>
            </a:extLst>
          </p:cNvPr>
          <p:cNvGrpSpPr/>
          <p:nvPr/>
        </p:nvGrpSpPr>
        <p:grpSpPr>
          <a:xfrm>
            <a:off x="149225" y="2729398"/>
            <a:ext cx="8686288" cy="152027"/>
            <a:chOff x="161664" y="3305658"/>
            <a:chExt cx="8686288" cy="152027"/>
          </a:xfrm>
          <a:solidFill>
            <a:srgbClr val="64748B"/>
          </a:solidFill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66681CC-9320-D87D-9EF3-4BF18893C4CE}"/>
                </a:ext>
              </a:extLst>
            </p:cNvPr>
            <p:cNvSpPr txBox="1"/>
            <p:nvPr/>
          </p:nvSpPr>
          <p:spPr>
            <a:xfrm>
              <a:off x="70224" y="3259938"/>
              <a:ext cx="1478800" cy="2434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 dirty="0">
                  <a:ln/>
                  <a:solidFill>
                    <a:srgbClr val="64748B"/>
                  </a:solidFill>
                  <a:latin typeface="Segoe UI"/>
                  <a:cs typeface="Segoe UI"/>
                  <a:sym typeface="Segoe UI"/>
                  <a:rtl val="0"/>
                </a:rPr>
                <a:t>3′ UTR (+ CDS for DIANA)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CB339BA-54F7-55CF-FA25-15BE8AE94CAF}"/>
                </a:ext>
              </a:extLst>
            </p:cNvPr>
            <p:cNvSpPr txBox="1"/>
            <p:nvPr/>
          </p:nvSpPr>
          <p:spPr>
            <a:xfrm>
              <a:off x="1671633" y="3259938"/>
              <a:ext cx="1323982" cy="2434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 dirty="0">
                  <a:ln/>
                  <a:solidFill>
                    <a:srgbClr val="64748B"/>
                  </a:solidFill>
                  <a:latin typeface="Segoe UI"/>
                  <a:cs typeface="Segoe UI"/>
                  <a:sym typeface="Segoe UI"/>
                  <a:rtl val="0"/>
                </a:rPr>
                <a:t>8mer vs non-canonical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3D96C91-50F6-A9EC-5B31-89072DB778AA}"/>
                </a:ext>
              </a:extLst>
            </p:cNvPr>
            <p:cNvSpPr txBox="1"/>
            <p:nvPr/>
          </p:nvSpPr>
          <p:spPr>
            <a:xfrm>
              <a:off x="3245426" y="3259938"/>
              <a:ext cx="1414897" cy="2434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 dirty="0">
                  <a:ln/>
                  <a:solidFill>
                    <a:srgbClr val="64748B"/>
                  </a:solidFill>
                  <a:latin typeface="Segoe UI"/>
                  <a:cs typeface="Segoe UI"/>
                  <a:sym typeface="Segoe UI"/>
                  <a:rtl val="0"/>
                </a:rPr>
                <a:t>GLM / SVM / Context++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0D0A982-5BF5-E455-3C17-AE6AE4834956}"/>
                </a:ext>
              </a:extLst>
            </p:cNvPr>
            <p:cNvSpPr txBox="1"/>
            <p:nvPr/>
          </p:nvSpPr>
          <p:spPr>
            <a:xfrm>
              <a:off x="4936392" y="3259938"/>
              <a:ext cx="1271464" cy="2434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64748B"/>
                  </a:solidFill>
                  <a:latin typeface="Segoe UI"/>
                  <a:cs typeface="Segoe UI"/>
                  <a:sym typeface="Segoe UI"/>
                  <a:rtl val="0"/>
                </a:rPr>
                <a:t>Sum / GLM / noisy-or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0883616-5DE8-01B8-6B66-8FDB1FF96D11}"/>
                </a:ext>
              </a:extLst>
            </p:cNvPr>
            <p:cNvSpPr txBox="1"/>
            <p:nvPr/>
          </p:nvSpPr>
          <p:spPr>
            <a:xfrm>
              <a:off x="6420516" y="3259938"/>
              <a:ext cx="1351217" cy="2434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64748B"/>
                  </a:solidFill>
                  <a:latin typeface="Segoe UI"/>
                  <a:cs typeface="Segoe UI"/>
                  <a:sym typeface="Segoe UI"/>
                  <a:rtl val="0"/>
                </a:rPr>
                <a:t>0.7–0.9 / 50–100 / class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65B4A6E-068D-94CC-FE75-58E6E3091E9A}"/>
                </a:ext>
              </a:extLst>
            </p:cNvPr>
            <p:cNvSpPr txBox="1"/>
            <p:nvPr/>
          </p:nvSpPr>
          <p:spPr>
            <a:xfrm>
              <a:off x="7919857" y="3259938"/>
              <a:ext cx="1019535" cy="2434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spc="0" baseline="0">
                  <a:ln/>
                  <a:solidFill>
                    <a:srgbClr val="64748B"/>
                  </a:solidFill>
                  <a:latin typeface="Segoe UI"/>
                  <a:cs typeface="Segoe UI"/>
                  <a:sym typeface="Segoe UI"/>
                  <a:rtl val="0"/>
                </a:rPr>
                <a:t>Per-source ranks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1557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se up of pages of an open book in a bright studio">
            <a:extLst>
              <a:ext uri="{FF2B5EF4-FFF2-40B4-BE49-F238E27FC236}">
                <a16:creationId xmlns:a16="http://schemas.microsoft.com/office/drawing/2014/main" id="{A9C9B52A-A6DA-C15A-FED1-69740D99527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6000" b="10088"/>
          <a:stretch>
            <a:fillRect/>
          </a:stretch>
        </p:blipFill>
        <p:spPr>
          <a:xfrm>
            <a:off x="-25200" y="0"/>
            <a:ext cx="9194399" cy="51435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94E90AF-83EC-0929-68F5-F3588A390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Prediction Pipeline</a:t>
            </a:r>
            <a:endParaRPr lang="en-US" dirty="0"/>
          </a:p>
        </p:txBody>
      </p:sp>
      <p:sp>
        <p:nvSpPr>
          <p:cNvPr id="20" name="Subhead"/>
          <p:cNvSpPr txBox="1">
            <a:spLocks noGrp="1"/>
          </p:cNvSpPr>
          <p:nvPr/>
        </p:nvSpPr>
        <p:spPr>
          <a:xfrm>
            <a:off x="311700" y="1151461"/>
            <a:ext cx="7875459" cy="42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buNone/>
            </a:pPr>
            <a:r>
              <a:rPr lang="en" sz="1650" b="1" dirty="0">
                <a:solidFill>
                  <a:schemeClr val="dk1"/>
                </a:solidFill>
              </a:rPr>
              <a:t>Sequence input to a ranked list of candidate targets</a:t>
            </a:r>
            <a:endParaRPr sz="1650" dirty="0"/>
          </a:p>
        </p:txBody>
      </p:sp>
      <p:sp>
        <p:nvSpPr>
          <p:cNvPr id="21" name="Body Bullets"/>
          <p:cNvSpPr txBox="1">
            <a:spLocks noGrp="1"/>
          </p:cNvSpPr>
          <p:nvPr/>
        </p:nvSpPr>
        <p:spPr>
          <a:xfrm>
            <a:off x="526205" y="1701911"/>
            <a:ext cx="7441036" cy="2400000"/>
          </a:xfrm>
          <a:prstGeom prst="rect">
            <a:avLst/>
          </a:prstGeom>
        </p:spPr>
        <p:txBody>
          <a:bodyPr spcFirstLastPara="1" wrap="square" lIns="91425" tIns="45700" rIns="45700" bIns="45700" anchor="t" anchorCtr="0">
            <a:noAutofit/>
          </a:bodyPr>
          <a:lstStyle/>
          <a:p>
            <a:pPr marL="0" lvl="0" indent="0" algn="l" rtl="0">
              <a:spcAft>
                <a:spcPts val="40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Input</a:t>
            </a:r>
            <a:r>
              <a:rPr lang="en" sz="1500" dirty="0">
                <a:solidFill>
                  <a:schemeClr val="dk1"/>
                </a:solidFill>
              </a:rPr>
              <a:t> — a miRNA sequence paired with an mRNA transcript sequence, typically the 3′ UTR; DIANA also scans the CDS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Candidate discovery</a:t>
            </a:r>
            <a:r>
              <a:rPr lang="en" sz="1500" dirty="0">
                <a:solidFill>
                  <a:schemeClr val="dk1"/>
                </a:solidFill>
              </a:rPr>
              <a:t> — scan for seed-matched miRNA recognition elements (MREs); the matching rules differ by tool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Site scoring</a:t>
            </a:r>
            <a:r>
              <a:rPr lang="en" sz="1500" dirty="0">
                <a:solidFill>
                  <a:schemeClr val="dk1"/>
                </a:solidFill>
              </a:rPr>
              <a:t> — apply tool-specific features: thermodynamics, conservation, site accessibility, machine learning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Aggregation</a:t>
            </a:r>
            <a:r>
              <a:rPr lang="en" sz="1500" dirty="0">
                <a:solidFill>
                  <a:schemeClr val="dk1"/>
                </a:solidFill>
              </a:rPr>
              <a:t> — combine site scores into a single gene–miRNA score, then apply a tool-specific threshold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Output</a:t>
            </a:r>
            <a:r>
              <a:rPr lang="en" sz="1500" dirty="0">
                <a:solidFill>
                  <a:schemeClr val="dk1"/>
                </a:solidFill>
              </a:rPr>
              <a:t> — a ranked miRNA list per gene, reported on each tool’s own scale</a:t>
            </a:r>
          </a:p>
        </p:txBody>
      </p:sp>
      <p:sp>
        <p:nvSpPr>
          <p:cNvPr id="22" name="Closing Note"/>
          <p:cNvSpPr txBox="1">
            <a:spLocks noGrp="1"/>
          </p:cNvSpPr>
          <p:nvPr/>
        </p:nvSpPr>
        <p:spPr>
          <a:xfrm>
            <a:off x="371874" y="4211964"/>
            <a:ext cx="7595367" cy="6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buNone/>
            </a:pPr>
            <a:r>
              <a:rPr lang="en" sz="1600" i="1" dirty="0">
                <a:solidFill>
                  <a:schemeClr val="dk1"/>
                </a:solidFill>
              </a:rPr>
              <a:t>Score semantics differ: efficacy, conservation, ML confidence, meta-integration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se up of pages of an open book in a bright studio">
            <a:extLst>
              <a:ext uri="{FF2B5EF4-FFF2-40B4-BE49-F238E27FC236}">
                <a16:creationId xmlns:a16="http://schemas.microsoft.com/office/drawing/2014/main" id="{A9C9B52A-A6DA-C15A-FED1-69740D9952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2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6000" b="10088"/>
          <a:stretch>
            <a:fillRect/>
          </a:stretch>
        </p:blipFill>
        <p:spPr>
          <a:xfrm>
            <a:off x="-25200" y="0"/>
            <a:ext cx="9194399" cy="5143500"/>
          </a:xfrm>
          <a:prstGeom prst="rect">
            <a:avLst/>
          </a:prstGeom>
        </p:spPr>
      </p:pic>
      <p:sp>
        <p:nvSpPr>
          <p:cNvPr id="50" name="Title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TargetScan Scoring System</a:t>
            </a:r>
            <a:endParaRPr lang="en-US" dirty="0"/>
          </a:p>
        </p:txBody>
      </p:sp>
      <p:sp>
        <p:nvSpPr>
          <p:cNvPr id="51" name="Subhead"/>
          <p:cNvSpPr txBox="1">
            <a:spLocks noGrp="1"/>
          </p:cNvSpPr>
          <p:nvPr/>
        </p:nvSpPr>
        <p:spPr>
          <a:xfrm>
            <a:off x="311700" y="1151461"/>
            <a:ext cx="7875459" cy="42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buNone/>
            </a:pPr>
            <a:r>
              <a:rPr lang="en" sz="1650" b="1" dirty="0">
                <a:solidFill>
                  <a:schemeClr val="dk1"/>
                </a:solidFill>
              </a:rPr>
              <a:t>Four score types, four different meanings</a:t>
            </a:r>
          </a:p>
        </p:txBody>
      </p:sp>
      <p:sp>
        <p:nvSpPr>
          <p:cNvPr id="52" name="Body Bullets"/>
          <p:cNvSpPr txBox="1">
            <a:spLocks noGrp="1"/>
          </p:cNvSpPr>
          <p:nvPr/>
        </p:nvSpPr>
        <p:spPr>
          <a:xfrm>
            <a:off x="526205" y="1701911"/>
            <a:ext cx="7441036" cy="24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Aft>
                <a:spcPts val="40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Context++</a:t>
            </a:r>
            <a:r>
              <a:rPr lang="en" sz="1500" dirty="0">
                <a:solidFill>
                  <a:schemeClr val="dk1"/>
                </a:solidFill>
              </a:rPr>
              <a:t> (site) — sum of 14 features predicting site-level repression; more negative means stronger (Agarwal et al., 2015)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CWCS</a:t>
            </a:r>
            <a:r>
              <a:rPr lang="en" sz="1500" dirty="0">
                <a:solidFill>
                  <a:schemeClr val="dk1"/>
                </a:solidFill>
              </a:rPr>
              <a:t> (gene–miRNA) — cumulative AIR-weighted repression across non-overlapping sites; more negative means stronger (log</a:t>
            </a:r>
            <a:r>
              <a:rPr lang="en" sz="1500" baseline="-25000" dirty="0">
                <a:solidFill>
                  <a:schemeClr val="dk1"/>
                </a:solidFill>
              </a:rPr>
              <a:t>2</a:t>
            </a:r>
            <a:r>
              <a:rPr lang="en" sz="1500" dirty="0">
                <a:solidFill>
                  <a:schemeClr val="dk1"/>
                </a:solidFill>
              </a:rPr>
              <a:t> fold-change; same convention as Context++)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PCT</a:t>
            </a:r>
            <a:r>
              <a:rPr lang="en" sz="1500" dirty="0">
                <a:solidFill>
                  <a:schemeClr val="dk1"/>
                </a:solidFill>
              </a:rPr>
              <a:t> (site or aggregate) — probability of conserved targeting, a separate conservation axis rather than efficacy (Friedman et al., 2009)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TargetScan 8.0 default</a:t>
            </a:r>
            <a:r>
              <a:rPr lang="en" sz="1500" dirty="0">
                <a:solidFill>
                  <a:schemeClr val="dk1"/>
                </a:solidFill>
              </a:rPr>
              <a:t> — biochemical predicted occupancy from a CNN and Kᴅ model (McGeary et al., 2019)</a:t>
            </a:r>
          </a:p>
        </p:txBody>
      </p:sp>
      <p:sp>
        <p:nvSpPr>
          <p:cNvPr id="53" name="Closing Note"/>
          <p:cNvSpPr txBox="1">
            <a:spLocks noGrp="1"/>
          </p:cNvSpPr>
          <p:nvPr/>
        </p:nvSpPr>
        <p:spPr>
          <a:xfrm>
            <a:off x="311700" y="4056434"/>
            <a:ext cx="8100000" cy="5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buNone/>
            </a:pPr>
            <a:r>
              <a:rPr lang="en" sz="1600" i="1" dirty="0">
                <a:solidFill>
                  <a:schemeClr val="dk1"/>
                </a:solidFill>
              </a:rPr>
              <a:t>Never average Context++, CWCS, PCT, or occupancy — scales, directions, and evidence types differ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B1ED7331-C467-5E97-F031-CDE9371DE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se up of pages of an open book in a bright studio">
            <a:extLst>
              <a:ext uri="{FF2B5EF4-FFF2-40B4-BE49-F238E27FC236}">
                <a16:creationId xmlns:a16="http://schemas.microsoft.com/office/drawing/2014/main" id="{D1CBC067-8E6B-7719-83B2-2A95E887B79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6000" b="10088"/>
          <a:stretch>
            <a:fillRect/>
          </a:stretch>
        </p:blipFill>
        <p:spPr>
          <a:xfrm>
            <a:off x="-25200" y="0"/>
            <a:ext cx="9194399" cy="5143500"/>
          </a:xfrm>
          <a:prstGeom prst="rect">
            <a:avLst/>
          </a:prstGeom>
        </p:spPr>
      </p:pic>
      <p:sp>
        <p:nvSpPr>
          <p:cNvPr id="50" name="Title">
            <a:extLst>
              <a:ext uri="{FF2B5EF4-FFF2-40B4-BE49-F238E27FC236}">
                <a16:creationId xmlns:a16="http://schemas.microsoft.com/office/drawing/2014/main" id="{BC04D70E-8800-E779-C73C-753743404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TargetScan Scoring System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0EDC33-E37C-5072-F287-87F52177097F}"/>
              </a:ext>
            </a:extLst>
          </p:cNvPr>
          <p:cNvSpPr/>
          <p:nvPr/>
        </p:nvSpPr>
        <p:spPr>
          <a:xfrm>
            <a:off x="0" y="1548091"/>
            <a:ext cx="9144000" cy="38100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DDC946-0C9F-C179-1FDB-11BBE9DDF4F4}"/>
              </a:ext>
            </a:extLst>
          </p:cNvPr>
          <p:cNvSpPr txBox="1"/>
          <p:nvPr/>
        </p:nvSpPr>
        <p:spPr>
          <a:xfrm>
            <a:off x="3327410" y="1171133"/>
            <a:ext cx="2400016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50" b="1" spc="0" baseline="0" dirty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Separate Scoring Axes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F41125-352F-E925-C80A-CDE66D20FF7D}"/>
              </a:ext>
            </a:extLst>
          </p:cNvPr>
          <p:cNvSpPr txBox="1"/>
          <p:nvPr/>
        </p:nvSpPr>
        <p:spPr>
          <a:xfrm>
            <a:off x="3012224" y="1520923"/>
            <a:ext cx="3119551" cy="2561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spc="0" baseline="0">
                <a:ln/>
                <a:solidFill>
                  <a:srgbClr val="64748B"/>
                </a:solidFill>
                <a:latin typeface="Segoe UI"/>
                <a:cs typeface="Segoe UI"/>
                <a:sym typeface="Segoe UI"/>
                <a:rtl val="0"/>
              </a:rPr>
              <a:t>Do not average — different evidence types and scales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8E5522A-F426-A8A1-BDBC-5E543C63E017}"/>
              </a:ext>
            </a:extLst>
          </p:cNvPr>
          <p:cNvSpPr/>
          <p:nvPr/>
        </p:nvSpPr>
        <p:spPr>
          <a:xfrm>
            <a:off x="381000" y="2005063"/>
            <a:ext cx="4000500" cy="2381250"/>
          </a:xfrm>
          <a:prstGeom prst="roundRect">
            <a:avLst>
              <a:gd name="adj" fmla="val 5600"/>
            </a:avLst>
          </a:prstGeom>
          <a:solidFill>
            <a:srgbClr val="EFF6FF"/>
          </a:solidFill>
          <a:ln w="19050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1CC4CB-F6BC-5BF4-6018-A842BC48A722}"/>
              </a:ext>
            </a:extLst>
          </p:cNvPr>
          <p:cNvSpPr txBox="1"/>
          <p:nvPr/>
        </p:nvSpPr>
        <p:spPr>
          <a:xfrm>
            <a:off x="1827556" y="2089409"/>
            <a:ext cx="1107386" cy="3068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75" b="1" spc="0" baseline="0">
                <a:ln/>
                <a:solidFill>
                  <a:srgbClr val="1D4ED8"/>
                </a:solidFill>
                <a:latin typeface="Segoe UI"/>
                <a:cs typeface="Segoe UI"/>
                <a:sym typeface="Segoe UI"/>
                <a:rtl val="0"/>
              </a:rPr>
              <a:t>Efficacy axis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36FB29-EFC6-F2CD-E786-AB220F0D986B}"/>
              </a:ext>
            </a:extLst>
          </p:cNvPr>
          <p:cNvSpPr txBox="1"/>
          <p:nvPr/>
        </p:nvSpPr>
        <p:spPr>
          <a:xfrm>
            <a:off x="480060" y="2434569"/>
            <a:ext cx="2851768" cy="26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• </a:t>
            </a:r>
            <a:r>
              <a:rPr lang="en-US" sz="1050" b="1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Context++ (site): more negative = stronger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967C32-C361-08D3-7F88-18B37FC3C707}"/>
              </a:ext>
            </a:extLst>
          </p:cNvPr>
          <p:cNvSpPr txBox="1"/>
          <p:nvPr/>
        </p:nvSpPr>
        <p:spPr>
          <a:xfrm>
            <a:off x="480060" y="2691744"/>
            <a:ext cx="37032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 dirty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• </a:t>
            </a:r>
            <a:r>
              <a:rPr lang="en-US" sz="1050" b="1" spc="0" baseline="0" dirty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CWCS (gene–miRNA): more negative = stronger (log₂)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840DA0-26B1-5D39-44DB-10E5E5374810}"/>
              </a:ext>
            </a:extLst>
          </p:cNvPr>
          <p:cNvSpPr txBox="1"/>
          <p:nvPr/>
        </p:nvSpPr>
        <p:spPr>
          <a:xfrm>
            <a:off x="480060" y="2948919"/>
            <a:ext cx="2451002" cy="26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• </a:t>
            </a:r>
            <a:r>
              <a:rPr lang="en-US" sz="1050" b="1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Occupancy (8.0 default): 0–1 fraction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AF2E53-E3BB-F96E-A314-637CF6E8363D}"/>
              </a:ext>
            </a:extLst>
          </p:cNvPr>
          <p:cNvSpPr txBox="1"/>
          <p:nvPr/>
        </p:nvSpPr>
        <p:spPr>
          <a:xfrm>
            <a:off x="480060" y="3360001"/>
            <a:ext cx="2365295" cy="243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>
                <a:ln/>
                <a:solidFill>
                  <a:srgbClr val="475569"/>
                </a:solidFill>
                <a:latin typeface="Segoe UI"/>
                <a:cs typeface="Segoe UI"/>
                <a:sym typeface="Segoe UI"/>
                <a:rtl val="0"/>
              </a:rPr>
              <a:t>Measures predicted biochemical repression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9FB9FA-AA0D-6CAA-E978-9489F910EDC8}"/>
              </a:ext>
            </a:extLst>
          </p:cNvPr>
          <p:cNvSpPr txBox="1"/>
          <p:nvPr/>
        </p:nvSpPr>
        <p:spPr>
          <a:xfrm>
            <a:off x="480060" y="3569551"/>
            <a:ext cx="2245135" cy="243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>
                <a:ln/>
                <a:solidFill>
                  <a:srgbClr val="475569"/>
                </a:solidFill>
                <a:latin typeface="Segoe UI"/>
                <a:cs typeface="Segoe UI"/>
                <a:sym typeface="Segoe UI"/>
                <a:rtl val="0"/>
              </a:rPr>
              <a:t>Agarwal et al. 2015 • McGeary et al. 2019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1C44D76-5E4D-BD96-9C0D-5F4C197B7364}"/>
              </a:ext>
            </a:extLst>
          </p:cNvPr>
          <p:cNvSpPr/>
          <p:nvPr/>
        </p:nvSpPr>
        <p:spPr>
          <a:xfrm>
            <a:off x="4762500" y="2005063"/>
            <a:ext cx="4000500" cy="2381250"/>
          </a:xfrm>
          <a:prstGeom prst="roundRect">
            <a:avLst>
              <a:gd name="adj" fmla="val 5600"/>
            </a:avLst>
          </a:prstGeom>
          <a:solidFill>
            <a:srgbClr val="F0FDF4"/>
          </a:solidFill>
          <a:ln w="19050" cap="flat">
            <a:solidFill>
              <a:srgbClr val="16A34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F0BD17-C9DE-6117-6877-B71FE3FFFB59}"/>
              </a:ext>
            </a:extLst>
          </p:cNvPr>
          <p:cNvSpPr txBox="1"/>
          <p:nvPr/>
        </p:nvSpPr>
        <p:spPr>
          <a:xfrm>
            <a:off x="5998981" y="2089409"/>
            <a:ext cx="1527537" cy="3068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75" b="1" spc="0" baseline="0">
                <a:ln/>
                <a:solidFill>
                  <a:srgbClr val="15803D"/>
                </a:solidFill>
                <a:latin typeface="Segoe UI"/>
                <a:cs typeface="Segoe UI"/>
                <a:sym typeface="Segoe UI"/>
                <a:rtl val="0"/>
              </a:rPr>
              <a:t>Conservation axis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F7228E-2D3B-6B7D-E45F-B956D7FC0EDF}"/>
              </a:ext>
            </a:extLst>
          </p:cNvPr>
          <p:cNvSpPr txBox="1"/>
          <p:nvPr/>
        </p:nvSpPr>
        <p:spPr>
          <a:xfrm>
            <a:off x="4861560" y="2434569"/>
            <a:ext cx="2511491" cy="26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• </a:t>
            </a:r>
            <a:r>
              <a:rPr lang="en-US" sz="1050" b="1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PCT (site / aggregate): 0–1 probability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58E176-D8DF-54F3-492B-C03DFE7F3627}"/>
              </a:ext>
            </a:extLst>
          </p:cNvPr>
          <p:cNvSpPr txBox="1"/>
          <p:nvPr/>
        </p:nvSpPr>
        <p:spPr>
          <a:xfrm>
            <a:off x="4861560" y="2691744"/>
            <a:ext cx="2592165" cy="26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• Higher = stronger evolutionary support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C29E5A-98A7-CB7D-5F19-2615C97F534A}"/>
              </a:ext>
            </a:extLst>
          </p:cNvPr>
          <p:cNvSpPr txBox="1"/>
          <p:nvPr/>
        </p:nvSpPr>
        <p:spPr>
          <a:xfrm>
            <a:off x="4861560" y="3053694"/>
            <a:ext cx="2498143" cy="26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• Independent from Context++ ranking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D57D2B-46EF-DD31-9F79-9838A8D1FDBF}"/>
              </a:ext>
            </a:extLst>
          </p:cNvPr>
          <p:cNvSpPr txBox="1"/>
          <p:nvPr/>
        </p:nvSpPr>
        <p:spPr>
          <a:xfrm>
            <a:off x="4861560" y="3360001"/>
            <a:ext cx="3307824" cy="243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>
                <a:ln/>
                <a:solidFill>
                  <a:srgbClr val="475569"/>
                </a:solidFill>
                <a:latin typeface="Segoe UI"/>
                <a:cs typeface="Segoe UI"/>
                <a:sym typeface="Segoe UI"/>
                <a:rtl val="0"/>
              </a:rPr>
              <a:t>Measures preferential conservation, not repression magnitude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37F569-5204-60CA-8019-EF6F5827B096}"/>
              </a:ext>
            </a:extLst>
          </p:cNvPr>
          <p:cNvSpPr txBox="1"/>
          <p:nvPr/>
        </p:nvSpPr>
        <p:spPr>
          <a:xfrm>
            <a:off x="4861560" y="3569551"/>
            <a:ext cx="1203989" cy="243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>
                <a:ln/>
                <a:solidFill>
                  <a:srgbClr val="475569"/>
                </a:solidFill>
                <a:latin typeface="Segoe UI"/>
                <a:cs typeface="Segoe UI"/>
                <a:sym typeface="Segoe UI"/>
                <a:rtl val="0"/>
              </a:rPr>
              <a:t>Friedman et al. 2009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6038AEA-D59F-FA7D-B787-5BB6B072CDB2}"/>
              </a:ext>
            </a:extLst>
          </p:cNvPr>
          <p:cNvSpPr/>
          <p:nvPr/>
        </p:nvSpPr>
        <p:spPr>
          <a:xfrm>
            <a:off x="1714500" y="4291063"/>
            <a:ext cx="5715000" cy="457200"/>
          </a:xfrm>
          <a:prstGeom prst="roundRect">
            <a:avLst>
              <a:gd name="adj" fmla="val 20833"/>
            </a:avLst>
          </a:prstGeom>
          <a:solidFill>
            <a:srgbClr val="FEE2E2"/>
          </a:solidFill>
          <a:ln w="14288" cap="flat">
            <a:solidFill>
              <a:srgbClr val="EF4444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A75D4A-F5FC-1A30-DDDD-69583FE5E116}"/>
              </a:ext>
            </a:extLst>
          </p:cNvPr>
          <p:cNvSpPr txBox="1"/>
          <p:nvPr/>
        </p:nvSpPr>
        <p:spPr>
          <a:xfrm>
            <a:off x="1888634" y="4387194"/>
            <a:ext cx="5366731" cy="26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spc="0" baseline="0">
                <a:ln/>
                <a:solidFill>
                  <a:srgbClr val="991B1B"/>
                </a:solidFill>
                <a:latin typeface="Segoe UI"/>
                <a:cs typeface="Segoe UI"/>
                <a:sym typeface="Segoe UI"/>
                <a:rtl val="0"/>
              </a:rPr>
              <a:t>PCT is also one of 14 Context++ features — do not double-count when integrating</a:t>
            </a:r>
          </a:p>
        </p:txBody>
      </p:sp>
    </p:spTree>
    <p:extLst>
      <p:ext uri="{BB962C8B-B14F-4D97-AF65-F5344CB8AC3E}">
        <p14:creationId xmlns:p14="http://schemas.microsoft.com/office/powerpoint/2010/main" val="607482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se up of pages of an open book in a bright studio">
            <a:extLst>
              <a:ext uri="{FF2B5EF4-FFF2-40B4-BE49-F238E27FC236}">
                <a16:creationId xmlns:a16="http://schemas.microsoft.com/office/drawing/2014/main" id="{A9C9B52A-A6DA-C15A-FED1-69740D9952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2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6000" b="10088"/>
          <a:stretch>
            <a:fillRect/>
          </a:stretch>
        </p:blipFill>
        <p:spPr>
          <a:xfrm>
            <a:off x="-25200" y="0"/>
            <a:ext cx="9194399" cy="5143500"/>
          </a:xfrm>
          <a:prstGeom prst="rect">
            <a:avLst/>
          </a:prstGeom>
        </p:spPr>
      </p:pic>
      <p:sp>
        <p:nvSpPr>
          <p:cNvPr id="50" name="Title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DIANA-microT-CDS Overview</a:t>
            </a:r>
            <a:endParaRPr lang="en-US"/>
          </a:p>
        </p:txBody>
      </p:sp>
      <p:sp>
        <p:nvSpPr>
          <p:cNvPr id="51" name="Subhead"/>
          <p:cNvSpPr txBox="1">
            <a:spLocks noGrp="1"/>
          </p:cNvSpPr>
          <p:nvPr/>
        </p:nvSpPr>
        <p:spPr>
          <a:xfrm>
            <a:off x="311700" y="1151461"/>
            <a:ext cx="7875459" cy="42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buNone/>
            </a:pPr>
            <a:r>
              <a:rPr lang="en" sz="1650" b="1" dirty="0">
                <a:solidFill>
                  <a:schemeClr val="dk1"/>
                </a:solidFill>
              </a:rPr>
              <a:t>Dual-region scanning with non-canonical site detection</a:t>
            </a:r>
          </a:p>
        </p:txBody>
      </p:sp>
      <p:sp>
        <p:nvSpPr>
          <p:cNvPr id="52" name="Body Bullets"/>
          <p:cNvSpPr txBox="1">
            <a:spLocks noGrp="1"/>
          </p:cNvSpPr>
          <p:nvPr/>
        </p:nvSpPr>
        <p:spPr>
          <a:xfrm>
            <a:off x="526205" y="1701911"/>
            <a:ext cx="7441036" cy="24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Aft>
                <a:spcPts val="40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Dual-region scanning</a:t>
            </a:r>
            <a:r>
              <a:rPr lang="en" sz="1500" dirty="0">
                <a:solidFill>
                  <a:schemeClr val="dk1"/>
                </a:solidFill>
              </a:rPr>
              <a:t> — the DIANA Lab algorithm reads both the 3′ UTR and the CDS, the only major online tool built for dual-region targeting (Reczko et al., 2012)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Non-canonical MREs</a:t>
            </a:r>
            <a:r>
              <a:rPr lang="en" sz="1500" dirty="0">
                <a:solidFill>
                  <a:schemeClr val="dk1"/>
                </a:solidFill>
              </a:rPr>
              <a:t> — canonical sites plus G:U wobble, bulge, and 3′ compensatory pairing, found through extended-seed alignment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Region-specific GLMs</a:t>
            </a:r>
            <a:r>
              <a:rPr lang="en" sz="1500" dirty="0">
                <a:solidFill>
                  <a:schemeClr val="dk1"/>
                </a:solidFill>
              </a:rPr>
              <a:t> — separate models for CDS and 3′ UTR, trained on PAR-CLIP binding sites (Reczko et al., 2012)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Merged output</a:t>
            </a:r>
            <a:r>
              <a:rPr lang="en" sz="1500" dirty="0">
                <a:solidFill>
                  <a:schemeClr val="dk1"/>
                </a:solidFill>
              </a:rPr>
              <a:t> — region scores combined by a second GLM trained on 13 microarray miRNA perturbation datasets</a:t>
            </a:r>
          </a:p>
        </p:txBody>
      </p:sp>
      <p:sp>
        <p:nvSpPr>
          <p:cNvPr id="53" name="Closing Note"/>
          <p:cNvSpPr txBox="1">
            <a:spLocks noGrp="1"/>
          </p:cNvSpPr>
          <p:nvPr/>
        </p:nvSpPr>
        <p:spPr>
          <a:xfrm>
            <a:off x="371874" y="4000906"/>
            <a:ext cx="8100000" cy="5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buNone/>
            </a:pPr>
            <a:r>
              <a:rPr lang="en" sz="1600" i="1" dirty="0">
                <a:solidFill>
                  <a:schemeClr val="dk1"/>
                </a:solidFill>
              </a:rPr>
              <a:t>Higher sensitivity than TargetScan 5.0 on an independent proteomics benchmark at matched specificity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se up of pages of an open book in a bright studio">
            <a:extLst>
              <a:ext uri="{FF2B5EF4-FFF2-40B4-BE49-F238E27FC236}">
                <a16:creationId xmlns:a16="http://schemas.microsoft.com/office/drawing/2014/main" id="{A9C9B52A-A6DA-C15A-FED1-69740D9952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2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6000" b="10088"/>
          <a:stretch>
            <a:fillRect/>
          </a:stretch>
        </p:blipFill>
        <p:spPr>
          <a:xfrm>
            <a:off x="-25200" y="0"/>
            <a:ext cx="9194399" cy="5143500"/>
          </a:xfrm>
          <a:prstGeom prst="rect">
            <a:avLst/>
          </a:prstGeom>
        </p:spPr>
      </p:pic>
      <p:sp>
        <p:nvSpPr>
          <p:cNvPr id="50" name="Title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DIANA Scoring System</a:t>
            </a:r>
            <a:endParaRPr lang="en-US"/>
          </a:p>
        </p:txBody>
      </p:sp>
      <p:sp>
        <p:nvSpPr>
          <p:cNvPr id="51" name="Subhead"/>
          <p:cNvSpPr txBox="1">
            <a:spLocks noGrp="1"/>
          </p:cNvSpPr>
          <p:nvPr/>
        </p:nvSpPr>
        <p:spPr>
          <a:xfrm>
            <a:off x="311700" y="1151461"/>
            <a:ext cx="7875459" cy="42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buNone/>
            </a:pPr>
            <a:r>
              <a:rPr lang="en" sz="1650" b="1" dirty="0">
                <a:solidFill>
                  <a:schemeClr val="dk1"/>
                </a:solidFill>
              </a:rPr>
              <a:t>One efficacy score, assembled from region-level models</a:t>
            </a:r>
          </a:p>
        </p:txBody>
      </p:sp>
      <p:sp>
        <p:nvSpPr>
          <p:cNvPr id="52" name="Body Bullets"/>
          <p:cNvSpPr txBox="1">
            <a:spLocks noGrp="1"/>
          </p:cNvSpPr>
          <p:nvPr/>
        </p:nvSpPr>
        <p:spPr>
          <a:xfrm>
            <a:off x="526205" y="1701911"/>
            <a:ext cx="7441036" cy="24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Aft>
                <a:spcPts val="40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MRE score</a:t>
            </a:r>
            <a:r>
              <a:rPr lang="en" sz="1500" dirty="0">
                <a:solidFill>
                  <a:schemeClr val="dk1"/>
                </a:solidFill>
              </a:rPr>
              <a:t> (site) — GLM output for each recognition element, summed within its region (Reczko et al., 2012)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microT score</a:t>
            </a:r>
            <a:r>
              <a:rPr lang="en" sz="1500" dirty="0">
                <a:solidFill>
                  <a:schemeClr val="dk1"/>
                </a:solidFill>
              </a:rPr>
              <a:t> (gene–miRNA) — the final GLM combining CDS and 3′ UTR region scores; higher means stronger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Features</a:t>
            </a:r>
            <a:r>
              <a:rPr lang="en" sz="1500" dirty="0">
                <a:solidFill>
                  <a:schemeClr val="dk1"/>
                </a:solidFill>
              </a:rPr>
              <a:t> — binding category, conservation (30 species CDS, 16 species UTR), RNAhybrid ΔG, Sfold accessibility in the 3′ UTR, and flanking AU content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Thresholds</a:t>
            </a:r>
            <a:r>
              <a:rPr lang="en" sz="1500" dirty="0">
                <a:solidFill>
                  <a:schemeClr val="dk1"/>
                </a:solidFill>
              </a:rPr>
              <a:t> — user range 0.3–1, with human defaults of 0.7 sensitive, 0.8 default, and 0.9 stringent per the DIANA API</a:t>
            </a:r>
          </a:p>
        </p:txBody>
      </p:sp>
      <p:sp>
        <p:nvSpPr>
          <p:cNvPr id="53" name="Closing Note"/>
          <p:cNvSpPr txBox="1">
            <a:spLocks noGrp="1"/>
          </p:cNvSpPr>
          <p:nvPr/>
        </p:nvSpPr>
        <p:spPr>
          <a:xfrm>
            <a:off x="371874" y="4045330"/>
            <a:ext cx="8100000" cy="5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buNone/>
            </a:pPr>
            <a:r>
              <a:rPr lang="en" sz="1600" i="1" dirty="0">
                <a:solidFill>
                  <a:schemeClr val="dk1"/>
                </a:solidFill>
              </a:rPr>
              <a:t>An efficacy score only — conservation is a model feature here, not a separate axis as with TargetScan PCT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se up of pages of an open book in a bright studio">
            <a:extLst>
              <a:ext uri="{FF2B5EF4-FFF2-40B4-BE49-F238E27FC236}">
                <a16:creationId xmlns:a16="http://schemas.microsoft.com/office/drawing/2014/main" id="{A9C9B52A-A6DA-C15A-FED1-69740D9952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2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6000" b="10088"/>
          <a:stretch>
            <a:fillRect/>
          </a:stretch>
        </p:blipFill>
        <p:spPr>
          <a:xfrm>
            <a:off x="-25200" y="0"/>
            <a:ext cx="9194399" cy="5143500"/>
          </a:xfrm>
          <a:prstGeom prst="rect">
            <a:avLst/>
          </a:prstGeom>
        </p:spPr>
      </p:pic>
      <p:sp>
        <p:nvSpPr>
          <p:cNvPr id="50" name="Title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miRDB</a:t>
            </a:r>
            <a:endParaRPr lang="en-US"/>
          </a:p>
        </p:txBody>
      </p:sp>
      <p:sp>
        <p:nvSpPr>
          <p:cNvPr id="51" name="Subhead"/>
          <p:cNvSpPr txBox="1">
            <a:spLocks noGrp="1"/>
          </p:cNvSpPr>
          <p:nvPr/>
        </p:nvSpPr>
        <p:spPr>
          <a:xfrm>
            <a:off x="311700" y="1151461"/>
            <a:ext cx="7875459" cy="42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buNone/>
            </a:pPr>
            <a:r>
              <a:rPr lang="en" sz="1650" b="1" dirty="0">
                <a:solidFill>
                  <a:schemeClr val="dk1"/>
                </a:solidFill>
              </a:rPr>
              <a:t>Machine-learned confidence from CLIP and RNA-seq training data</a:t>
            </a:r>
          </a:p>
        </p:txBody>
      </p:sp>
      <p:sp>
        <p:nvSpPr>
          <p:cNvPr id="52" name="Body Bullets"/>
          <p:cNvSpPr txBox="1">
            <a:spLocks noGrp="1"/>
          </p:cNvSpPr>
          <p:nvPr/>
        </p:nvSpPr>
        <p:spPr>
          <a:xfrm>
            <a:off x="526205" y="1701911"/>
            <a:ext cx="7441036" cy="24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Aft>
                <a:spcPts val="40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MirTarget v4.0</a:t>
            </a:r>
            <a:r>
              <a:rPr lang="en" sz="1500" dirty="0">
                <a:solidFill>
                  <a:schemeClr val="dk1"/>
                </a:solidFill>
              </a:rPr>
              <a:t> — an SVM with RBF kernel over 96 features, trained on CLIP ligation and RNA-seq downregulation data (Liu &amp; Wang, 2019)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3′ UTR only</a:t>
            </a:r>
            <a:r>
              <a:rPr lang="en" sz="1500" dirty="0">
                <a:solidFill>
                  <a:schemeClr val="dk1"/>
                </a:solidFill>
              </a:rPr>
              <a:t> — scans for seed8A1, seed7b, and seed7A1; conservation is not required for a site to qualify (Chen &amp; Wang, 2020)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MirTarget score</a:t>
            </a:r>
            <a:r>
              <a:rPr lang="en" sz="1500" dirty="0">
                <a:solidFill>
                  <a:schemeClr val="dk1"/>
                </a:solidFill>
              </a:rPr>
              <a:t> (50–100) — S = 100 × (1 − ∏ site probabilities); higher means greater model confidence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Practical cutoffs</a:t>
            </a:r>
            <a:r>
              <a:rPr lang="en" sz="1500" dirty="0">
                <a:solidFill>
                  <a:schemeClr val="dk1"/>
                </a:solidFill>
              </a:rPr>
              <a:t> — above 80 is high confidence, below 60 warrants caution, per the miRDB FAQ</a:t>
            </a:r>
          </a:p>
        </p:txBody>
      </p:sp>
      <p:sp>
        <p:nvSpPr>
          <p:cNvPr id="53" name="Closing Note"/>
          <p:cNvSpPr txBox="1">
            <a:spLocks noGrp="1"/>
          </p:cNvSpPr>
          <p:nvPr/>
        </p:nvSpPr>
        <p:spPr>
          <a:xfrm>
            <a:off x="371874" y="4089754"/>
            <a:ext cx="8100000" cy="5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buNone/>
            </a:pPr>
            <a:r>
              <a:rPr lang="en" sz="1600" i="1" dirty="0">
                <a:solidFill>
                  <a:schemeClr val="dk1"/>
                </a:solidFill>
              </a:rPr>
              <a:t>A machine-learning contrast to rule-based tools — opaque, but able to capture non-conserved functional targets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se up of pages of an open book in a bright studio">
            <a:extLst>
              <a:ext uri="{FF2B5EF4-FFF2-40B4-BE49-F238E27FC236}">
                <a16:creationId xmlns:a16="http://schemas.microsoft.com/office/drawing/2014/main" id="{A9C9B52A-A6DA-C15A-FED1-69740D9952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2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6000" b="10088"/>
          <a:stretch>
            <a:fillRect/>
          </a:stretch>
        </p:blipFill>
        <p:spPr>
          <a:xfrm>
            <a:off x="-25200" y="0"/>
            <a:ext cx="9194399" cy="5143500"/>
          </a:xfrm>
          <a:prstGeom prst="rect">
            <a:avLst/>
          </a:prstGeom>
        </p:spPr>
      </p:pic>
      <p:sp>
        <p:nvSpPr>
          <p:cNvPr id="50" name="Title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mirDIP</a:t>
            </a:r>
            <a:endParaRPr lang="en-US" dirty="0"/>
          </a:p>
        </p:txBody>
      </p:sp>
      <p:sp>
        <p:nvSpPr>
          <p:cNvPr id="51" name="Subhead"/>
          <p:cNvSpPr txBox="1">
            <a:spLocks noGrp="1"/>
          </p:cNvSpPr>
          <p:nvPr/>
        </p:nvSpPr>
        <p:spPr>
          <a:xfrm>
            <a:off x="311700" y="1151461"/>
            <a:ext cx="7875459" cy="42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buNone/>
            </a:pPr>
            <a:r>
              <a:rPr lang="en" sz="1650" b="1" dirty="0">
                <a:solidFill>
                  <a:schemeClr val="dk1"/>
                </a:solidFill>
              </a:rPr>
              <a:t>A meta-resource that aggregates 24 prediction databases</a:t>
            </a:r>
          </a:p>
        </p:txBody>
      </p:sp>
      <p:sp>
        <p:nvSpPr>
          <p:cNvPr id="52" name="Body Bullets"/>
          <p:cNvSpPr txBox="1">
            <a:spLocks noGrp="1"/>
          </p:cNvSpPr>
          <p:nvPr/>
        </p:nvSpPr>
        <p:spPr>
          <a:xfrm>
            <a:off x="526205" y="1701911"/>
            <a:ext cx="7441036" cy="24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Aft>
                <a:spcPts val="40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Integrative meta-resource</a:t>
            </a:r>
            <a:r>
              <a:rPr lang="en" sz="1500" dirty="0">
                <a:solidFill>
                  <a:schemeClr val="dk1"/>
                </a:solidFill>
              </a:rPr>
              <a:t> — not a single algorithm, but an aggregation of 24 prediction databases (Hauschild et al., 2023)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Constituent tools</a:t>
            </a:r>
            <a:r>
              <a:rPr lang="en" sz="1500" dirty="0">
                <a:solidFill>
                  <a:schemeClr val="dk1"/>
                </a:solidFill>
              </a:rPr>
              <a:t> — TargetScan v7.2, DIANA, miRDB v6, PITA, RNAhybrid, miRanda, and 18 others, per mirDIP statistics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Integrated score</a:t>
            </a:r>
            <a:r>
              <a:rPr lang="en" sz="1500" dirty="0">
                <a:solidFill>
                  <a:schemeClr val="dk1"/>
                </a:solidFill>
              </a:rPr>
              <a:t> — a noisy-or combination of precision-calibrated confidence scores, proportional to interaction probability (Tokar et al., 2018)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Score classes</a:t>
            </a:r>
            <a:r>
              <a:rPr lang="en" sz="1500" dirty="0">
                <a:solidFill>
                  <a:schemeClr val="dk1"/>
                </a:solidFill>
              </a:rPr>
              <a:t> (per miRNA) — Very High is the top 1%, High the top 5%, Medium the top third, Low the remainder</a:t>
            </a:r>
          </a:p>
        </p:txBody>
      </p:sp>
      <p:sp>
        <p:nvSpPr>
          <p:cNvPr id="53" name="Closing Note"/>
          <p:cNvSpPr txBox="1">
            <a:spLocks noGrp="1"/>
          </p:cNvSpPr>
          <p:nvPr/>
        </p:nvSpPr>
        <p:spPr>
          <a:xfrm>
            <a:off x="371874" y="4045330"/>
            <a:ext cx="8100000" cy="5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buNone/>
            </a:pPr>
            <a:r>
              <a:rPr lang="en" sz="1600" i="1" dirty="0">
                <a:solidFill>
                  <a:schemeClr val="dk1"/>
                </a:solidFill>
              </a:rPr>
              <a:t>Do not equal-weight mirDIP alongside its constituent tools — the evidence is correlated and easily double-counted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se up of pages of an open book in a bright studio">
            <a:extLst>
              <a:ext uri="{FF2B5EF4-FFF2-40B4-BE49-F238E27FC236}">
                <a16:creationId xmlns:a16="http://schemas.microsoft.com/office/drawing/2014/main" id="{A9C9B52A-A6DA-C15A-FED1-69740D9952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2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6000" b="10088"/>
          <a:stretch>
            <a:fillRect/>
          </a:stretch>
        </p:blipFill>
        <p:spPr>
          <a:xfrm>
            <a:off x="-25200" y="0"/>
            <a:ext cx="9194399" cy="5143500"/>
          </a:xfrm>
          <a:prstGeom prst="rect">
            <a:avLst/>
          </a:prstGeom>
        </p:spPr>
      </p:pic>
      <p:sp>
        <p:nvSpPr>
          <p:cNvPr id="50" name="Title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Validation Databases</a:t>
            </a:r>
            <a:endParaRPr lang="en-US"/>
          </a:p>
        </p:txBody>
      </p:sp>
      <p:sp>
        <p:nvSpPr>
          <p:cNvPr id="51" name="Subhead"/>
          <p:cNvSpPr txBox="1">
            <a:spLocks noGrp="1"/>
          </p:cNvSpPr>
          <p:nvPr/>
        </p:nvSpPr>
        <p:spPr>
          <a:xfrm>
            <a:off x="311700" y="1151461"/>
            <a:ext cx="7875459" cy="42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buNone/>
            </a:pPr>
            <a:r>
              <a:rPr lang="en" sz="1650" b="1" dirty="0">
                <a:solidFill>
                  <a:schemeClr val="dk1"/>
                </a:solidFill>
              </a:rPr>
              <a:t>Experimental ground truth, used strictly as an overlay</a:t>
            </a:r>
          </a:p>
        </p:txBody>
      </p:sp>
      <p:sp>
        <p:nvSpPr>
          <p:cNvPr id="52" name="Body Bullets"/>
          <p:cNvSpPr txBox="1">
            <a:spLocks noGrp="1"/>
          </p:cNvSpPr>
          <p:nvPr/>
        </p:nvSpPr>
        <p:spPr>
          <a:xfrm>
            <a:off x="526205" y="1701911"/>
            <a:ext cx="7441036" cy="24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Aft>
                <a:spcPts val="40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miRTarBase 2025</a:t>
            </a:r>
            <a:r>
              <a:rPr lang="en" sz="1500" dirty="0">
                <a:solidFill>
                  <a:schemeClr val="dk1"/>
                </a:solidFill>
              </a:rPr>
              <a:t> (~3.8M MTIs) — manually curated experimental interactions, and not a predictor (Cui et al., 2025)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Evidence tiers</a:t>
            </a:r>
            <a:r>
              <a:rPr lang="en" sz="1500" dirty="0">
                <a:solidFill>
                  <a:schemeClr val="dk1"/>
                </a:solidFill>
              </a:rPr>
              <a:t> — strong support comes from reporter assays, Western blot, and qPCR; weaker from CLIP-seq, PAR-CLIP, and microarray (Cui et al., 2025)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DIANA-TarBase v9.0</a:t>
            </a:r>
            <a:r>
              <a:rPr lang="en" sz="1500" dirty="0">
                <a:solidFill>
                  <a:schemeClr val="dk1"/>
                </a:solidFill>
              </a:rPr>
              <a:t> (~6M entries, ~2M unique pairs) — the largest validated collection, with cell-type binding sites (Skoufos et al., 2024)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TarBase filters</a:t>
            </a:r>
            <a:r>
              <a:rPr lang="en" sz="1500" dirty="0">
                <a:solidFill>
                  <a:schemeClr val="dk1"/>
                </a:solidFill>
              </a:rPr>
              <a:t> — 37 low-yield and high-throughput protocols, filterable by tissue, cell type, direct or indirect method, and 3′ UTR versus CDS</a:t>
            </a:r>
          </a:p>
        </p:txBody>
      </p:sp>
      <p:sp>
        <p:nvSpPr>
          <p:cNvPr id="53" name="Closing Note"/>
          <p:cNvSpPr txBox="1">
            <a:spLocks noGrp="1"/>
          </p:cNvSpPr>
          <p:nvPr/>
        </p:nvSpPr>
        <p:spPr>
          <a:xfrm>
            <a:off x="371874" y="4097158"/>
            <a:ext cx="8100000" cy="5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buNone/>
            </a:pPr>
            <a:r>
              <a:rPr lang="en" sz="1600" i="1" dirty="0">
                <a:solidFill>
                  <a:schemeClr val="dk1"/>
                </a:solidFill>
              </a:rPr>
              <a:t>Project use: a read-only experimental support overlay via multiMiR — never merged into predictor consensus scores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se up of pages of an open book in a bright studio">
            <a:extLst>
              <a:ext uri="{FF2B5EF4-FFF2-40B4-BE49-F238E27FC236}">
                <a16:creationId xmlns:a16="http://schemas.microsoft.com/office/drawing/2014/main" id="{A9C9B52A-A6DA-C15A-FED1-69740D99527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6000" b="10088"/>
          <a:stretch>
            <a:fillRect/>
          </a:stretch>
        </p:blipFill>
        <p:spPr>
          <a:xfrm>
            <a:off x="-25200" y="-18367"/>
            <a:ext cx="9194399" cy="5143500"/>
          </a:xfrm>
          <a:prstGeom prst="rect">
            <a:avLst/>
          </a:prstGeom>
        </p:spPr>
      </p:pic>
      <p:sp>
        <p:nvSpPr>
          <p:cNvPr id="50" name="Title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Side-by-Side Comparison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9F1882-DB16-8659-E43F-2C80EE4733C5}"/>
              </a:ext>
            </a:extLst>
          </p:cNvPr>
          <p:cNvSpPr/>
          <p:nvPr/>
        </p:nvSpPr>
        <p:spPr>
          <a:xfrm>
            <a:off x="0" y="837633"/>
            <a:ext cx="9144000" cy="34290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795FF-B5E0-260E-FA86-3F31458F2CBB}"/>
              </a:ext>
            </a:extLst>
          </p:cNvPr>
          <p:cNvSpPr txBox="1"/>
          <p:nvPr/>
        </p:nvSpPr>
        <p:spPr>
          <a:xfrm>
            <a:off x="2813215" y="1128896"/>
            <a:ext cx="3517569" cy="3701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50" b="1" spc="0" baseline="0" dirty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Score Evidence Types by Resource</a:t>
            </a:r>
          </a:p>
        </p:txBody>
      </p:sp>
      <p:grpSp>
        <p:nvGrpSpPr>
          <p:cNvPr id="8" name="Graphic 3">
            <a:extLst>
              <a:ext uri="{FF2B5EF4-FFF2-40B4-BE49-F238E27FC236}">
                <a16:creationId xmlns:a16="http://schemas.microsoft.com/office/drawing/2014/main" id="{41280972-5DFD-D700-AAF2-155E0A052F6B}"/>
              </a:ext>
            </a:extLst>
          </p:cNvPr>
          <p:cNvGrpSpPr/>
          <p:nvPr/>
        </p:nvGrpSpPr>
        <p:grpSpPr>
          <a:xfrm>
            <a:off x="249255" y="1554063"/>
            <a:ext cx="8645487" cy="1976054"/>
            <a:chOff x="380998" y="1366185"/>
            <a:chExt cx="8627063" cy="197605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4FFE9E-735C-409C-FB0E-9EF3159B96B4}"/>
                </a:ext>
              </a:extLst>
            </p:cNvPr>
            <p:cNvSpPr/>
            <p:nvPr/>
          </p:nvSpPr>
          <p:spPr>
            <a:xfrm>
              <a:off x="380998" y="1366185"/>
              <a:ext cx="8627061" cy="266700"/>
            </a:xfrm>
            <a:prstGeom prst="rect">
              <a:avLst/>
            </a:prstGeom>
            <a:solidFill>
              <a:srgbClr val="F1F5F9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AC24C9C-CDCC-8783-E094-F9C411C39881}"/>
                </a:ext>
              </a:extLst>
            </p:cNvPr>
            <p:cNvSpPr txBox="1"/>
            <p:nvPr/>
          </p:nvSpPr>
          <p:spPr>
            <a:xfrm>
              <a:off x="1146810" y="1393038"/>
              <a:ext cx="75693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b="1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Resource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8C3289-46DC-6D88-DB1F-0D8B28DF854B}"/>
                </a:ext>
              </a:extLst>
            </p:cNvPr>
            <p:cNvSpPr txBox="1"/>
            <p:nvPr/>
          </p:nvSpPr>
          <p:spPr>
            <a:xfrm>
              <a:off x="2766060" y="1393038"/>
              <a:ext cx="104708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b="1" spc="0" baseline="0" dirty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Primary score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249A211-42C0-A385-6E1E-9ED7EE778CC2}"/>
                </a:ext>
              </a:extLst>
            </p:cNvPr>
            <p:cNvSpPr txBox="1"/>
            <p:nvPr/>
          </p:nvSpPr>
          <p:spPr>
            <a:xfrm>
              <a:off x="4671060" y="1393038"/>
              <a:ext cx="105990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b="1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Evidence type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050D86-DE82-BA42-34FD-14FA4B34DE1E}"/>
                </a:ext>
              </a:extLst>
            </p:cNvPr>
            <p:cNvSpPr txBox="1"/>
            <p:nvPr/>
          </p:nvSpPr>
          <p:spPr>
            <a:xfrm>
              <a:off x="6385560" y="1393038"/>
              <a:ext cx="63030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b="1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Region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149CC7E-F436-D833-2171-B53A9B0EF078}"/>
                </a:ext>
              </a:extLst>
            </p:cNvPr>
            <p:cNvSpPr txBox="1"/>
            <p:nvPr/>
          </p:nvSpPr>
          <p:spPr>
            <a:xfrm>
              <a:off x="7719060" y="1393038"/>
              <a:ext cx="100700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b="1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Comparable?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964D848-4394-72B2-2FAF-083D31AED36A}"/>
                </a:ext>
              </a:extLst>
            </p:cNvPr>
            <p:cNvSpPr/>
            <p:nvPr/>
          </p:nvSpPr>
          <p:spPr>
            <a:xfrm>
              <a:off x="380999" y="1632885"/>
              <a:ext cx="8627062" cy="342900"/>
            </a:xfrm>
            <a:prstGeom prst="rect">
              <a:avLst/>
            </a:prstGeom>
            <a:solidFill>
              <a:srgbClr val="EFF6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823BB94-BC89-22D9-FBF1-ED481EAB9211}"/>
                </a:ext>
              </a:extLst>
            </p:cNvPr>
            <p:cNvSpPr txBox="1"/>
            <p:nvPr/>
          </p:nvSpPr>
          <p:spPr>
            <a:xfrm>
              <a:off x="1146810" y="1697838"/>
              <a:ext cx="84510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TargetScan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C4603CF-EBFD-D991-F9F7-E95A5AF5A7F4}"/>
                </a:ext>
              </a:extLst>
            </p:cNvPr>
            <p:cNvSpPr txBox="1"/>
            <p:nvPr/>
          </p:nvSpPr>
          <p:spPr>
            <a:xfrm>
              <a:off x="2766060" y="1697838"/>
              <a:ext cx="166423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CWCS / occupancy / PCT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B354590-1C5C-EC1B-1EB5-A0691A77A004}"/>
                </a:ext>
              </a:extLst>
            </p:cNvPr>
            <p:cNvSpPr txBox="1"/>
            <p:nvPr/>
          </p:nvSpPr>
          <p:spPr>
            <a:xfrm>
              <a:off x="4671060" y="1697838"/>
              <a:ext cx="155363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efficacy + conservation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C5C2C8D-09FD-3723-707C-C5D162CDF72C}"/>
                </a:ext>
              </a:extLst>
            </p:cNvPr>
            <p:cNvSpPr txBox="1"/>
            <p:nvPr/>
          </p:nvSpPr>
          <p:spPr>
            <a:xfrm>
              <a:off x="6385560" y="1697838"/>
              <a:ext cx="56778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3′ UTR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C1F1864-84C9-0090-2DB5-028474627BEA}"/>
                </a:ext>
              </a:extLst>
            </p:cNvPr>
            <p:cNvSpPr txBox="1"/>
            <p:nvPr/>
          </p:nvSpPr>
          <p:spPr>
            <a:xfrm>
              <a:off x="7719060" y="1697838"/>
              <a:ext cx="36420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No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457457C-5ACF-C211-2D39-53E7F53FB15C}"/>
                </a:ext>
              </a:extLst>
            </p:cNvPr>
            <p:cNvSpPr/>
            <p:nvPr/>
          </p:nvSpPr>
          <p:spPr>
            <a:xfrm>
              <a:off x="380998" y="1975785"/>
              <a:ext cx="8627061" cy="342900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8A7F0A6-F0E7-EC74-BE43-AA013D9281DD}"/>
                </a:ext>
              </a:extLst>
            </p:cNvPr>
            <p:cNvSpPr txBox="1"/>
            <p:nvPr/>
          </p:nvSpPr>
          <p:spPr>
            <a:xfrm>
              <a:off x="1146810" y="2040738"/>
              <a:ext cx="135325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DIANA-microT-CDS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07C04F0-B100-BFCB-E52E-817016A8E066}"/>
                </a:ext>
              </a:extLst>
            </p:cNvPr>
            <p:cNvSpPr txBox="1"/>
            <p:nvPr/>
          </p:nvSpPr>
          <p:spPr>
            <a:xfrm>
              <a:off x="2766060" y="2040738"/>
              <a:ext cx="59022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microT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C855A65-6628-9634-B0AE-9FBE61E41B53}"/>
                </a:ext>
              </a:extLst>
            </p:cNvPr>
            <p:cNvSpPr txBox="1"/>
            <p:nvPr/>
          </p:nvSpPr>
          <p:spPr>
            <a:xfrm>
              <a:off x="4671060" y="2040738"/>
              <a:ext cx="102463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efficacy (GLM)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9C915C9-D2C3-870A-9EE7-0AC84D9355FA}"/>
                </a:ext>
              </a:extLst>
            </p:cNvPr>
            <p:cNvSpPr txBox="1"/>
            <p:nvPr/>
          </p:nvSpPr>
          <p:spPr>
            <a:xfrm>
              <a:off x="6385560" y="2040738"/>
              <a:ext cx="98296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3′ UTR + CDS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BEF545F-BA4D-478D-05D5-760881B3C969}"/>
                </a:ext>
              </a:extLst>
            </p:cNvPr>
            <p:cNvSpPr txBox="1"/>
            <p:nvPr/>
          </p:nvSpPr>
          <p:spPr>
            <a:xfrm>
              <a:off x="7719060" y="2040738"/>
              <a:ext cx="36420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No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F13EE51-63D5-23AC-6C21-B10761CD9116}"/>
                </a:ext>
              </a:extLst>
            </p:cNvPr>
            <p:cNvSpPr/>
            <p:nvPr/>
          </p:nvSpPr>
          <p:spPr>
            <a:xfrm>
              <a:off x="381000" y="2333625"/>
              <a:ext cx="8627059" cy="342900"/>
            </a:xfrm>
            <a:prstGeom prst="rect">
              <a:avLst/>
            </a:prstGeom>
            <a:solidFill>
              <a:srgbClr val="F8FAFC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CF14DF6-86AE-A4E2-F55D-536A071CF27D}"/>
                </a:ext>
              </a:extLst>
            </p:cNvPr>
            <p:cNvSpPr txBox="1"/>
            <p:nvPr/>
          </p:nvSpPr>
          <p:spPr>
            <a:xfrm>
              <a:off x="1146810" y="2383638"/>
              <a:ext cx="58381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miRDB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A5FE3B5-3E09-4490-9C81-1D7371BC510B}"/>
                </a:ext>
              </a:extLst>
            </p:cNvPr>
            <p:cNvSpPr txBox="1"/>
            <p:nvPr/>
          </p:nvSpPr>
          <p:spPr>
            <a:xfrm>
              <a:off x="2766060" y="2383638"/>
              <a:ext cx="122822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MirTarget 50–100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8E92CCC-F2E0-37D6-3211-C034688DA51F}"/>
                </a:ext>
              </a:extLst>
            </p:cNvPr>
            <p:cNvSpPr txBox="1"/>
            <p:nvPr/>
          </p:nvSpPr>
          <p:spPr>
            <a:xfrm>
              <a:off x="4671060" y="2383638"/>
              <a:ext cx="105670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ML confidence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08BA8E0-A5E9-0023-A2F8-12E15492DEB7}"/>
                </a:ext>
              </a:extLst>
            </p:cNvPr>
            <p:cNvSpPr txBox="1"/>
            <p:nvPr/>
          </p:nvSpPr>
          <p:spPr>
            <a:xfrm>
              <a:off x="6385560" y="2383638"/>
              <a:ext cx="56778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3′ UTR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1EEBEC9-5A54-8011-E90C-A37602A3462E}"/>
                </a:ext>
              </a:extLst>
            </p:cNvPr>
            <p:cNvSpPr txBox="1"/>
            <p:nvPr/>
          </p:nvSpPr>
          <p:spPr>
            <a:xfrm>
              <a:off x="7719060" y="2383638"/>
              <a:ext cx="36420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No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9BD0744-7DB9-D897-B5A7-725F7130CDE4}"/>
                </a:ext>
              </a:extLst>
            </p:cNvPr>
            <p:cNvSpPr/>
            <p:nvPr/>
          </p:nvSpPr>
          <p:spPr>
            <a:xfrm>
              <a:off x="381000" y="2676525"/>
              <a:ext cx="8627058" cy="342900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EC7BBC7-D19C-924B-DCE0-FAF995ED567E}"/>
                </a:ext>
              </a:extLst>
            </p:cNvPr>
            <p:cNvSpPr txBox="1"/>
            <p:nvPr/>
          </p:nvSpPr>
          <p:spPr>
            <a:xfrm>
              <a:off x="1146810" y="2726538"/>
              <a:ext cx="58381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mirDIP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208DB7A-5871-85DB-FA7B-433527664F8A}"/>
                </a:ext>
              </a:extLst>
            </p:cNvPr>
            <p:cNvSpPr txBox="1"/>
            <p:nvPr/>
          </p:nvSpPr>
          <p:spPr>
            <a:xfrm>
              <a:off x="2766060" y="2726538"/>
              <a:ext cx="104868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Integrated 0–1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CCAA900-3183-B2C4-1D51-3F02980AD5A5}"/>
                </a:ext>
              </a:extLst>
            </p:cNvPr>
            <p:cNvSpPr txBox="1"/>
            <p:nvPr/>
          </p:nvSpPr>
          <p:spPr>
            <a:xfrm>
              <a:off x="4671060" y="2726538"/>
              <a:ext cx="118974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 dirty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meta-integration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BBAFD2B-DE05-0244-9743-2A1A343D11A3}"/>
                </a:ext>
              </a:extLst>
            </p:cNvPr>
            <p:cNvSpPr txBox="1"/>
            <p:nvPr/>
          </p:nvSpPr>
          <p:spPr>
            <a:xfrm>
              <a:off x="6385560" y="2726538"/>
              <a:ext cx="81624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24 sources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E7D14F2-01E6-0202-11C0-ABDB8634B885}"/>
                </a:ext>
              </a:extLst>
            </p:cNvPr>
            <p:cNvSpPr txBox="1"/>
            <p:nvPr/>
          </p:nvSpPr>
          <p:spPr>
            <a:xfrm>
              <a:off x="7719060" y="2726538"/>
              <a:ext cx="124906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 dirty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No (already meta)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50C5D9C-607B-076D-E5F0-C46CC281A1E6}"/>
                </a:ext>
              </a:extLst>
            </p:cNvPr>
            <p:cNvSpPr/>
            <p:nvPr/>
          </p:nvSpPr>
          <p:spPr>
            <a:xfrm>
              <a:off x="381000" y="2999339"/>
              <a:ext cx="8627058" cy="342900"/>
            </a:xfrm>
            <a:prstGeom prst="rect">
              <a:avLst/>
            </a:prstGeom>
            <a:solidFill>
              <a:srgbClr val="F0FDF4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592FA90-738C-EB4D-109D-86BE0012F9EE}"/>
                </a:ext>
              </a:extLst>
            </p:cNvPr>
            <p:cNvSpPr txBox="1"/>
            <p:nvPr/>
          </p:nvSpPr>
          <p:spPr>
            <a:xfrm>
              <a:off x="1146810" y="3069438"/>
              <a:ext cx="145905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miRTarBase / TarBase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16FBFF3-2806-9AD3-CBA3-BE1B08F3701D}"/>
                </a:ext>
              </a:extLst>
            </p:cNvPr>
            <p:cNvSpPr txBox="1"/>
            <p:nvPr/>
          </p:nvSpPr>
          <p:spPr>
            <a:xfrm>
              <a:off x="2766060" y="3069438"/>
              <a:ext cx="155844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Support level / method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77EFDD1-3D83-2967-2DB5-8924CF0B96DB}"/>
                </a:ext>
              </a:extLst>
            </p:cNvPr>
            <p:cNvSpPr txBox="1"/>
            <p:nvPr/>
          </p:nvSpPr>
          <p:spPr>
            <a:xfrm>
              <a:off x="4671060" y="3069438"/>
              <a:ext cx="145264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experimental support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A96CD49-FA0E-7D6F-7B43-E978F1C607C9}"/>
                </a:ext>
              </a:extLst>
            </p:cNvPr>
            <p:cNvSpPr txBox="1"/>
            <p:nvPr/>
          </p:nvSpPr>
          <p:spPr>
            <a:xfrm>
              <a:off x="6385560" y="3069438"/>
              <a:ext cx="90120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overlay only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6428575-C2FA-EF40-B646-62A690724F2D}"/>
                </a:ext>
              </a:extLst>
            </p:cNvPr>
            <p:cNvSpPr txBox="1"/>
            <p:nvPr/>
          </p:nvSpPr>
          <p:spPr>
            <a:xfrm>
              <a:off x="7719060" y="3069438"/>
              <a:ext cx="42511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F172A"/>
                  </a:solidFill>
                  <a:latin typeface="Segoe UI"/>
                  <a:cs typeface="Segoe UI"/>
                  <a:sym typeface="Segoe UI"/>
                  <a:rtl val="0"/>
                </a:rPr>
                <a:t>N/A</a:t>
              </a:r>
            </a:p>
          </p:txBody>
        </p:sp>
      </p:grp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B630E4F-C05D-946B-7986-4D697CF695B8}"/>
              </a:ext>
            </a:extLst>
          </p:cNvPr>
          <p:cNvSpPr/>
          <p:nvPr/>
        </p:nvSpPr>
        <p:spPr>
          <a:xfrm>
            <a:off x="1143000" y="3810567"/>
            <a:ext cx="6858000" cy="495300"/>
          </a:xfrm>
          <a:prstGeom prst="roundRect">
            <a:avLst>
              <a:gd name="adj" fmla="val 19230"/>
            </a:avLst>
          </a:prstGeom>
          <a:solidFill>
            <a:srgbClr val="FEF3C7"/>
          </a:solidFill>
          <a:ln w="9525" cap="flat">
            <a:solidFill>
              <a:srgbClr val="F59E0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9034088-BF56-4773-45B5-79BAF81C50AE}"/>
              </a:ext>
            </a:extLst>
          </p:cNvPr>
          <p:cNvSpPr txBox="1"/>
          <p:nvPr/>
        </p:nvSpPr>
        <p:spPr>
          <a:xfrm>
            <a:off x="2221600" y="3869352"/>
            <a:ext cx="4700799" cy="2561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spc="0" baseline="0">
                <a:ln/>
                <a:solidFill>
                  <a:srgbClr val="92400E"/>
                </a:solidFill>
                <a:latin typeface="Segoe UI"/>
                <a:cs typeface="Segoe UI"/>
                <a:sym typeface="Segoe UI"/>
                <a:rtl val="0"/>
              </a:rPr>
              <a:t>Naive averaging mixes efficacy, conservation, ML confidence, and meta-integration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405D28-A8D6-F9A4-7884-D0ACD4794A4C}"/>
              </a:ext>
            </a:extLst>
          </p:cNvPr>
          <p:cNvSpPr txBox="1"/>
          <p:nvPr/>
        </p:nvSpPr>
        <p:spPr>
          <a:xfrm>
            <a:off x="2874976" y="4040802"/>
            <a:ext cx="3394046" cy="2561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spc="0" baseline="0">
                <a:ln/>
                <a:solidFill>
                  <a:srgbClr val="92400E"/>
                </a:solidFill>
                <a:latin typeface="Segoe UI"/>
                <a:cs typeface="Segoe UI"/>
                <a:sym typeface="Segoe UI"/>
                <a:rtl val="0"/>
              </a:rPr>
              <a:t>→ use per-source ranks or percentile normalization instead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B49A9C0D-C0AF-3E99-BFA0-AA78080CB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se up of pages of an open book in a bright studio">
            <a:extLst>
              <a:ext uri="{FF2B5EF4-FFF2-40B4-BE49-F238E27FC236}">
                <a16:creationId xmlns:a16="http://schemas.microsoft.com/office/drawing/2014/main" id="{8A37A637-4EBC-2D63-B363-14CF05C04E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2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6000" b="10088"/>
          <a:stretch>
            <a:fillRect/>
          </a:stretch>
        </p:blipFill>
        <p:spPr>
          <a:xfrm>
            <a:off x="-25200" y="0"/>
            <a:ext cx="9194399" cy="5143500"/>
          </a:xfrm>
          <a:prstGeom prst="rect">
            <a:avLst/>
          </a:prstGeom>
        </p:spPr>
      </p:pic>
      <p:sp>
        <p:nvSpPr>
          <p:cNvPr id="50" name="Title">
            <a:extLst>
              <a:ext uri="{FF2B5EF4-FFF2-40B4-BE49-F238E27FC236}">
                <a16:creationId xmlns:a16="http://schemas.microsoft.com/office/drawing/2014/main" id="{1D434E38-9816-AAE6-11E8-F42F3C53C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Side-by-Side Comparison</a:t>
            </a:r>
            <a:endParaRPr lang="en-US"/>
          </a:p>
        </p:txBody>
      </p:sp>
      <p:sp>
        <p:nvSpPr>
          <p:cNvPr id="52" name="Body Bullets">
            <a:extLst>
              <a:ext uri="{FF2B5EF4-FFF2-40B4-BE49-F238E27FC236}">
                <a16:creationId xmlns:a16="http://schemas.microsoft.com/office/drawing/2014/main" id="{8B32DA4F-EBEE-8BCE-F004-3FA28CFC4DB9}"/>
              </a:ext>
            </a:extLst>
          </p:cNvPr>
          <p:cNvSpPr txBox="1">
            <a:spLocks noGrp="1"/>
          </p:cNvSpPr>
          <p:nvPr/>
        </p:nvSpPr>
        <p:spPr>
          <a:xfrm>
            <a:off x="526204" y="1298393"/>
            <a:ext cx="7966239" cy="29589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Aft>
                <a:spcPts val="40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TargetScan</a:t>
            </a:r>
            <a:r>
              <a:rPr lang="en" sz="1500" dirty="0">
                <a:solidFill>
                  <a:schemeClr val="dk1"/>
                </a:solidFill>
              </a:rPr>
              <a:t> — CWCS or occupancy for efficacy plus PCT as a separate conservation axis; 3′ UTR canonical sites, with no universal cutoff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DIANA-microT-CDS</a:t>
            </a:r>
            <a:r>
              <a:rPr lang="en" sz="1500" dirty="0">
                <a:solidFill>
                  <a:schemeClr val="dk1"/>
                </a:solidFill>
              </a:rPr>
              <a:t> — a microT GLM efficacy score across 3′ UTR and CDS, including non-canonical sites; thresholds of 0.7–0.9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miRDB</a:t>
            </a:r>
            <a:r>
              <a:rPr lang="en" sz="1500" dirty="0">
                <a:solidFill>
                  <a:schemeClr val="dk1"/>
                </a:solidFill>
              </a:rPr>
              <a:t> — MirTarget confidence from 50 to 100, 3′ UTR only; above 80 is high confidence, below 60 warrants caution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mirDIP</a:t>
            </a:r>
            <a:r>
              <a:rPr lang="en" sz="1500" dirty="0">
                <a:solidFill>
                  <a:schemeClr val="dk1"/>
                </a:solidFill>
              </a:rPr>
              <a:t> — an integrated 0–1 meta-score aggregating 24 predictors, with a Score Class per miRNA; not an independent vote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Validation overlay</a:t>
            </a:r>
            <a:r>
              <a:rPr lang="en" sz="1500" dirty="0">
                <a:solidFill>
                  <a:schemeClr val="dk1"/>
                </a:solidFill>
              </a:rPr>
              <a:t> — miRTarBase and TarBase supply categorical experimental support tiers: read-only, never averaged with predictor scores</a:t>
            </a:r>
          </a:p>
        </p:txBody>
      </p:sp>
    </p:spTree>
    <p:extLst>
      <p:ext uri="{BB962C8B-B14F-4D97-AF65-F5344CB8AC3E}">
        <p14:creationId xmlns:p14="http://schemas.microsoft.com/office/powerpoint/2010/main" val="2604967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se up of pages of an open book in a bright studio">
            <a:extLst>
              <a:ext uri="{FF2B5EF4-FFF2-40B4-BE49-F238E27FC236}">
                <a16:creationId xmlns:a16="http://schemas.microsoft.com/office/drawing/2014/main" id="{A9C9B52A-A6DA-C15A-FED1-69740D9952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2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6000" b="10088"/>
          <a:stretch>
            <a:fillRect/>
          </a:stretch>
        </p:blipFill>
        <p:spPr>
          <a:xfrm>
            <a:off x="-25200" y="0"/>
            <a:ext cx="9194399" cy="5143500"/>
          </a:xfrm>
          <a:prstGeom prst="rect">
            <a:avLst/>
          </a:prstGeom>
        </p:spPr>
      </p:pic>
      <p:sp>
        <p:nvSpPr>
          <p:cNvPr id="50" name="Title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Why Algorithms Disagree</a:t>
            </a:r>
            <a:endParaRPr lang="en-US" dirty="0"/>
          </a:p>
        </p:txBody>
      </p:sp>
      <p:sp>
        <p:nvSpPr>
          <p:cNvPr id="51" name="Subhead"/>
          <p:cNvSpPr txBox="1">
            <a:spLocks noGrp="1"/>
          </p:cNvSpPr>
          <p:nvPr/>
        </p:nvSpPr>
        <p:spPr>
          <a:xfrm>
            <a:off x="311700" y="1151461"/>
            <a:ext cx="7875459" cy="42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buNone/>
            </a:pPr>
            <a:r>
              <a:rPr lang="en" sz="1650" b="1" dirty="0">
                <a:solidFill>
                  <a:schemeClr val="dk1"/>
                </a:solidFill>
              </a:rPr>
              <a:t>Example: predicted regulators of PTEN</a:t>
            </a:r>
          </a:p>
        </p:txBody>
      </p:sp>
      <p:sp>
        <p:nvSpPr>
          <p:cNvPr id="52" name="Body Bullets"/>
          <p:cNvSpPr txBox="1">
            <a:spLocks noGrp="1"/>
          </p:cNvSpPr>
          <p:nvPr/>
        </p:nvSpPr>
        <p:spPr>
          <a:xfrm>
            <a:off x="526205" y="1701911"/>
            <a:ext cx="7441036" cy="24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Aft>
                <a:spcPts val="40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PTEN</a:t>
            </a:r>
            <a:r>
              <a:rPr lang="en" sz="1500" dirty="0">
                <a:solidFill>
                  <a:schemeClr val="dk1"/>
                </a:solidFill>
              </a:rPr>
              <a:t> — a well-studied tumor suppressor with dozens of reported miRNA regulators, for which tools return markedly different top-ranked lists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miR-21-5p → PTEN</a:t>
            </a:r>
            <a:r>
              <a:rPr lang="en" sz="1500" dirty="0">
                <a:solidFill>
                  <a:schemeClr val="dk1"/>
                </a:solidFill>
              </a:rPr>
              <a:t> — luciferase reporter validated, with at least 52 literature references and TargetScan-predicted 3′ UTR sites (Meng et al., 2007; Chen et al., 2014)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miR-214-3p → PTEN</a:t>
            </a:r>
            <a:r>
              <a:rPr lang="en" sz="1500" dirty="0">
                <a:solidFill>
                  <a:schemeClr val="dk1"/>
                </a:solidFill>
              </a:rPr>
              <a:t> — reporter validated (Yang et al., 2008) and present in TarBase and miRTarBase, yet it may rank lower in conservation-heavy predictors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Methodological drivers</a:t>
            </a:r>
            <a:r>
              <a:rPr lang="en" sz="1500" dirty="0">
                <a:solidFill>
                  <a:schemeClr val="dk1"/>
                </a:solidFill>
              </a:rPr>
              <a:t> — CDS versus 3′ UTR scanning, canonical versus non-canonical seeds, conservation versus ML weighting, and mirDIP double-counting its constituents</a:t>
            </a:r>
          </a:p>
        </p:txBody>
      </p:sp>
      <p:sp>
        <p:nvSpPr>
          <p:cNvPr id="53" name="Closing Note"/>
          <p:cNvSpPr txBox="1">
            <a:spLocks noGrp="1"/>
          </p:cNvSpPr>
          <p:nvPr/>
        </p:nvSpPr>
        <p:spPr>
          <a:xfrm>
            <a:off x="371874" y="4282258"/>
            <a:ext cx="8100000" cy="5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buNone/>
            </a:pPr>
            <a:r>
              <a:rPr lang="en" sz="1600" i="1" dirty="0">
                <a:solidFill>
                  <a:schemeClr val="dk1"/>
                </a:solidFill>
              </a:rPr>
              <a:t>Disagreement reflects different evidence and assumptions, not necessarily one tool being wrong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4454309F-4290-7CD1-EDD7-8F7E1C8F0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FECADE-BC84-6BF2-D892-412E1D1C1268}"/>
              </a:ext>
            </a:extLst>
          </p:cNvPr>
          <p:cNvSpPr/>
          <p:nvPr/>
        </p:nvSpPr>
        <p:spPr>
          <a:xfrm>
            <a:off x="0" y="502412"/>
            <a:ext cx="9144000" cy="45720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 descr="Close up of pages of an open book in a bright studio">
            <a:extLst>
              <a:ext uri="{FF2B5EF4-FFF2-40B4-BE49-F238E27FC236}">
                <a16:creationId xmlns:a16="http://schemas.microsoft.com/office/drawing/2014/main" id="{F27EFD6E-A7E6-0E79-C794-5D2ED0C1728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6000" b="10088"/>
          <a:stretch>
            <a:fillRect/>
          </a:stretch>
        </p:blipFill>
        <p:spPr>
          <a:xfrm>
            <a:off x="-25200" y="0"/>
            <a:ext cx="9194399" cy="5143500"/>
          </a:xfrm>
          <a:prstGeom prst="rect">
            <a:avLst/>
          </a:prstGeom>
        </p:spPr>
      </p:pic>
      <p:sp>
        <p:nvSpPr>
          <p:cNvPr id="50" name="Title">
            <a:extLst>
              <a:ext uri="{FF2B5EF4-FFF2-40B4-BE49-F238E27FC236}">
                <a16:creationId xmlns:a16="http://schemas.microsoft.com/office/drawing/2014/main" id="{19C8B1E3-B230-E4A9-FF58-85C28CF80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4218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PTEN: Why Tools Disagree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525A5F-DFC6-908A-5361-93035A56A040}"/>
              </a:ext>
            </a:extLst>
          </p:cNvPr>
          <p:cNvSpPr txBox="1"/>
          <p:nvPr/>
        </p:nvSpPr>
        <p:spPr>
          <a:xfrm>
            <a:off x="1787847" y="889527"/>
            <a:ext cx="5953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spc="0" baseline="0" dirty="0">
                <a:ln/>
                <a:solidFill>
                  <a:srgbClr val="64748B"/>
                </a:solidFill>
                <a:latin typeface="+mj-lt"/>
                <a:cs typeface="Segoe UI"/>
                <a:sym typeface="Segoe UI"/>
                <a:rtl val="0"/>
              </a:rPr>
              <a:t>Same tumor-suppressor gene — different ranked miRNAs and incompatible scores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CB63E5-8A7A-A48F-E2DF-52C1370BC515}"/>
              </a:ext>
            </a:extLst>
          </p:cNvPr>
          <p:cNvSpPr/>
          <p:nvPr/>
        </p:nvSpPr>
        <p:spPr>
          <a:xfrm>
            <a:off x="381000" y="1264412"/>
            <a:ext cx="1905000" cy="533400"/>
          </a:xfrm>
          <a:prstGeom prst="roundRect">
            <a:avLst>
              <a:gd name="adj" fmla="val 17857"/>
            </a:avLst>
          </a:prstGeom>
          <a:solidFill>
            <a:srgbClr val="FECACA"/>
          </a:solidFill>
          <a:ln w="19050" cap="flat">
            <a:solidFill>
              <a:srgbClr val="EF4444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E5F37D-7179-F329-5FCB-62297995201E}"/>
              </a:ext>
            </a:extLst>
          </p:cNvPr>
          <p:cNvSpPr txBox="1"/>
          <p:nvPr/>
        </p:nvSpPr>
        <p:spPr>
          <a:xfrm>
            <a:off x="1025822" y="1367055"/>
            <a:ext cx="61535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350" b="1" spc="0" baseline="0">
                <a:ln/>
                <a:solidFill>
                  <a:srgbClr val="991B1B"/>
                </a:solidFill>
                <a:latin typeface="Segoe UI"/>
                <a:cs typeface="Segoe UI"/>
                <a:sym typeface="Segoe UI"/>
                <a:rtl val="0"/>
              </a:rPr>
              <a:t>PTEN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59C42-8F4B-F3FA-8424-0BD28A1E88CC}"/>
              </a:ext>
            </a:extLst>
          </p:cNvPr>
          <p:cNvSpPr/>
          <p:nvPr/>
        </p:nvSpPr>
        <p:spPr>
          <a:xfrm>
            <a:off x="2286000" y="1531112"/>
            <a:ext cx="571500" cy="9525"/>
          </a:xfrm>
          <a:custGeom>
            <a:avLst/>
            <a:gdLst>
              <a:gd name="csX0" fmla="*/ 0 w 571500"/>
              <a:gd name="csY0" fmla="*/ 0 h 9525"/>
              <a:gd name="csX1" fmla="*/ 571500 w 57150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ln w="19050" cap="flat">
            <a:solidFill>
              <a:srgbClr val="64748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FB5A5E6-52C3-F136-D3DD-E6A1C6B0518C}"/>
              </a:ext>
            </a:extLst>
          </p:cNvPr>
          <p:cNvSpPr/>
          <p:nvPr/>
        </p:nvSpPr>
        <p:spPr>
          <a:xfrm>
            <a:off x="2286000" y="1531112"/>
            <a:ext cx="571500" cy="571500"/>
          </a:xfrm>
          <a:custGeom>
            <a:avLst/>
            <a:gdLst>
              <a:gd name="csX0" fmla="*/ 0 w 571500"/>
              <a:gd name="csY0" fmla="*/ 0 h 571500"/>
              <a:gd name="csX1" fmla="*/ 571500 w 571500"/>
              <a:gd name="csY1" fmla="*/ 571500 h 571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71500" h="571500">
                <a:moveTo>
                  <a:pt x="0" y="0"/>
                </a:moveTo>
                <a:lnTo>
                  <a:pt x="571500" y="571500"/>
                </a:lnTo>
              </a:path>
            </a:pathLst>
          </a:custGeom>
          <a:ln w="19050" cap="flat">
            <a:solidFill>
              <a:srgbClr val="64748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3A69C59-577F-1A67-9BED-9D8C10154DB0}"/>
              </a:ext>
            </a:extLst>
          </p:cNvPr>
          <p:cNvSpPr/>
          <p:nvPr/>
        </p:nvSpPr>
        <p:spPr>
          <a:xfrm>
            <a:off x="2286000" y="1531112"/>
            <a:ext cx="571500" cy="1143000"/>
          </a:xfrm>
          <a:custGeom>
            <a:avLst/>
            <a:gdLst>
              <a:gd name="csX0" fmla="*/ 0 w 571500"/>
              <a:gd name="csY0" fmla="*/ 0 h 1143000"/>
              <a:gd name="csX1" fmla="*/ 571500 w 571500"/>
              <a:gd name="csY1" fmla="*/ 1143000 h 114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71500" h="1143000">
                <a:moveTo>
                  <a:pt x="0" y="0"/>
                </a:moveTo>
                <a:lnTo>
                  <a:pt x="571500" y="1143000"/>
                </a:lnTo>
              </a:path>
            </a:pathLst>
          </a:custGeom>
          <a:ln w="19050" cap="flat">
            <a:solidFill>
              <a:srgbClr val="64748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2C33B0B-3712-B4B5-6A0D-F6F4F9F21541}"/>
              </a:ext>
            </a:extLst>
          </p:cNvPr>
          <p:cNvSpPr/>
          <p:nvPr/>
        </p:nvSpPr>
        <p:spPr>
          <a:xfrm>
            <a:off x="2286000" y="1531112"/>
            <a:ext cx="571500" cy="1714500"/>
          </a:xfrm>
          <a:custGeom>
            <a:avLst/>
            <a:gdLst>
              <a:gd name="csX0" fmla="*/ 0 w 571500"/>
              <a:gd name="csY0" fmla="*/ 0 h 1714500"/>
              <a:gd name="csX1" fmla="*/ 571500 w 571500"/>
              <a:gd name="csY1" fmla="*/ 1714500 h 1714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71500" h="1714500">
                <a:moveTo>
                  <a:pt x="0" y="0"/>
                </a:moveTo>
                <a:lnTo>
                  <a:pt x="571500" y="1714500"/>
                </a:lnTo>
              </a:path>
            </a:pathLst>
          </a:custGeom>
          <a:ln w="19050" cap="flat">
            <a:solidFill>
              <a:srgbClr val="64748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5" name="Graphic 3">
            <a:extLst>
              <a:ext uri="{FF2B5EF4-FFF2-40B4-BE49-F238E27FC236}">
                <a16:creationId xmlns:a16="http://schemas.microsoft.com/office/drawing/2014/main" id="{A943A70D-2A3F-A99A-BCAA-72314EB43372}"/>
              </a:ext>
            </a:extLst>
          </p:cNvPr>
          <p:cNvGrpSpPr/>
          <p:nvPr/>
        </p:nvGrpSpPr>
        <p:grpSpPr>
          <a:xfrm>
            <a:off x="2857500" y="1245362"/>
            <a:ext cx="5905500" cy="2247900"/>
            <a:chOff x="2857500" y="1028700"/>
            <a:chExt cx="5905500" cy="224790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E141514-7A0A-ABAA-0058-1EEC61CC2632}"/>
                </a:ext>
              </a:extLst>
            </p:cNvPr>
            <p:cNvSpPr/>
            <p:nvPr/>
          </p:nvSpPr>
          <p:spPr>
            <a:xfrm>
              <a:off x="2857500" y="1028700"/>
              <a:ext cx="5905500" cy="533400"/>
            </a:xfrm>
            <a:prstGeom prst="roundRect">
              <a:avLst>
                <a:gd name="adj" fmla="val 14285"/>
              </a:avLst>
            </a:prstGeom>
            <a:solidFill>
              <a:srgbClr val="EFF6FF"/>
            </a:solidFill>
            <a:ln w="9525" cap="flat">
              <a:solidFill>
                <a:srgbClr val="2563E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7088DE-DE1E-BFD8-7752-C7727A3FADA4}"/>
                </a:ext>
              </a:extLst>
            </p:cNvPr>
            <p:cNvSpPr txBox="1"/>
            <p:nvPr/>
          </p:nvSpPr>
          <p:spPr>
            <a:xfrm>
              <a:off x="2956560" y="1077960"/>
              <a:ext cx="822561" cy="256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75" b="1" spc="0" baseline="0">
                  <a:ln/>
                  <a:solidFill>
                    <a:srgbClr val="1D4ED8"/>
                  </a:solidFill>
                  <a:latin typeface="Segoe UI"/>
                  <a:cs typeface="Segoe UI"/>
                  <a:sym typeface="Segoe UI"/>
                  <a:rtl val="0"/>
                </a:rPr>
                <a:t>TargetScan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C6BFFAD-6717-C910-4B87-D0992766A22D}"/>
                </a:ext>
              </a:extLst>
            </p:cNvPr>
            <p:cNvSpPr txBox="1"/>
            <p:nvPr/>
          </p:nvSpPr>
          <p:spPr>
            <a:xfrm>
              <a:off x="2956560" y="1268460"/>
              <a:ext cx="4150298" cy="256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75" spc="0" baseline="0">
                  <a:ln/>
                  <a:solidFill>
                    <a:srgbClr val="334155"/>
                  </a:solidFill>
                  <a:latin typeface="Segoe UI"/>
                  <a:cs typeface="Segoe UI"/>
                  <a:sym typeface="Segoe UI"/>
                  <a:rtl val="0"/>
                </a:rPr>
                <a:t>Canonical 3′ UTR sites • ranks by CWCS or occupancy • separate PCT axis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8B5452FC-A1DE-B141-459C-A67D3C67E2D8}"/>
                </a:ext>
              </a:extLst>
            </p:cNvPr>
            <p:cNvSpPr/>
            <p:nvPr/>
          </p:nvSpPr>
          <p:spPr>
            <a:xfrm>
              <a:off x="2857500" y="1600200"/>
              <a:ext cx="5905500" cy="533400"/>
            </a:xfrm>
            <a:prstGeom prst="roundRect">
              <a:avLst>
                <a:gd name="adj" fmla="val 14285"/>
              </a:avLst>
            </a:prstGeom>
            <a:solidFill>
              <a:srgbClr val="ECFEFF"/>
            </a:solidFill>
            <a:ln w="9525" cap="flat">
              <a:solidFill>
                <a:srgbClr val="0891B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BDD7E44-E756-92BD-DFA6-7BF16FA6EB12}"/>
                </a:ext>
              </a:extLst>
            </p:cNvPr>
            <p:cNvSpPr txBox="1"/>
            <p:nvPr/>
          </p:nvSpPr>
          <p:spPr>
            <a:xfrm>
              <a:off x="2956560" y="1649460"/>
              <a:ext cx="1328563" cy="256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75" b="1" spc="0" baseline="0">
                  <a:ln/>
                  <a:solidFill>
                    <a:srgbClr val="0E7490"/>
                  </a:solidFill>
                  <a:latin typeface="Segoe UI"/>
                  <a:cs typeface="Segoe UI"/>
                  <a:sym typeface="Segoe UI"/>
                  <a:rtl val="0"/>
                </a:rPr>
                <a:t>DIANA-microT-CDS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DFF6526-F709-A9E3-2443-E4EC65FB1EFE}"/>
                </a:ext>
              </a:extLst>
            </p:cNvPr>
            <p:cNvSpPr txBox="1"/>
            <p:nvPr/>
          </p:nvSpPr>
          <p:spPr>
            <a:xfrm>
              <a:off x="2956560" y="1839960"/>
              <a:ext cx="4187361" cy="256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75" spc="0" baseline="0">
                  <a:ln/>
                  <a:solidFill>
                    <a:srgbClr val="334155"/>
                  </a:solidFill>
                  <a:latin typeface="Segoe UI"/>
                  <a:cs typeface="Segoe UI"/>
                  <a:sym typeface="Segoe UI"/>
                  <a:rtl val="0"/>
                </a:rPr>
                <a:t>Also scans CDS • non-canonical MREs • microT GLM score (0.7–0.9 cutoff)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AE3A8949-EBB6-1DFB-7604-CF8401960974}"/>
                </a:ext>
              </a:extLst>
            </p:cNvPr>
            <p:cNvSpPr/>
            <p:nvPr/>
          </p:nvSpPr>
          <p:spPr>
            <a:xfrm>
              <a:off x="2857500" y="2171700"/>
              <a:ext cx="5905500" cy="533400"/>
            </a:xfrm>
            <a:prstGeom prst="roundRect">
              <a:avLst>
                <a:gd name="adj" fmla="val 14285"/>
              </a:avLst>
            </a:prstGeom>
            <a:solidFill>
              <a:srgbClr val="F5F3FF"/>
            </a:solidFill>
            <a:ln w="9525" cap="flat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B6AD9CB-7CE6-FA03-44F6-372393A0DC82}"/>
                </a:ext>
              </a:extLst>
            </p:cNvPr>
            <p:cNvSpPr txBox="1"/>
            <p:nvPr/>
          </p:nvSpPr>
          <p:spPr>
            <a:xfrm>
              <a:off x="2956560" y="2220960"/>
              <a:ext cx="583013" cy="256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75" b="1" spc="0" baseline="0">
                  <a:ln/>
                  <a:solidFill>
                    <a:srgbClr val="6D28D9"/>
                  </a:solidFill>
                  <a:latin typeface="Segoe UI"/>
                  <a:cs typeface="Segoe UI"/>
                  <a:sym typeface="Segoe UI"/>
                  <a:rtl val="0"/>
                </a:rPr>
                <a:t>miRDB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E37D454-58C1-FBF9-1E72-1E804DD40237}"/>
                </a:ext>
              </a:extLst>
            </p:cNvPr>
            <p:cNvSpPr txBox="1"/>
            <p:nvPr/>
          </p:nvSpPr>
          <p:spPr>
            <a:xfrm>
              <a:off x="2956560" y="2411460"/>
              <a:ext cx="3828583" cy="256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75" spc="0" baseline="0">
                  <a:ln/>
                  <a:solidFill>
                    <a:srgbClr val="334155"/>
                  </a:solidFill>
                  <a:latin typeface="Segoe UI"/>
                  <a:cs typeface="Segoe UI"/>
                  <a:sym typeface="Segoe UI"/>
                  <a:rtl val="0"/>
                </a:rPr>
                <a:t>MirTarget SVM 50–100 • 3′ UTR only • non-conserved sites allowed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DBDB462C-4AD8-6B7A-A98A-4FF6143BEB7B}"/>
                </a:ext>
              </a:extLst>
            </p:cNvPr>
            <p:cNvSpPr/>
            <p:nvPr/>
          </p:nvSpPr>
          <p:spPr>
            <a:xfrm>
              <a:off x="2857500" y="2743200"/>
              <a:ext cx="5905500" cy="533400"/>
            </a:xfrm>
            <a:prstGeom prst="roundRect">
              <a:avLst>
                <a:gd name="adj" fmla="val 14285"/>
              </a:avLst>
            </a:prstGeom>
            <a:solidFill>
              <a:srgbClr val="FFF7ED"/>
            </a:solidFill>
            <a:ln w="9525" cap="flat">
              <a:solidFill>
                <a:srgbClr val="EA580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21598CB-9356-668C-7F0A-B96A0F1D1E8E}"/>
                </a:ext>
              </a:extLst>
            </p:cNvPr>
            <p:cNvSpPr txBox="1"/>
            <p:nvPr/>
          </p:nvSpPr>
          <p:spPr>
            <a:xfrm>
              <a:off x="2956560" y="2792460"/>
              <a:ext cx="587366" cy="256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75" b="1" spc="0" baseline="0">
                  <a:ln/>
                  <a:solidFill>
                    <a:srgbClr val="C2410C"/>
                  </a:solidFill>
                  <a:latin typeface="Segoe UI"/>
                  <a:cs typeface="Segoe UI"/>
                  <a:sym typeface="Segoe UI"/>
                  <a:rtl val="0"/>
                </a:rPr>
                <a:t>mirDIP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19B1413-FC58-D55D-2488-F86FDC5990EE}"/>
                </a:ext>
              </a:extLst>
            </p:cNvPr>
            <p:cNvSpPr txBox="1"/>
            <p:nvPr/>
          </p:nvSpPr>
          <p:spPr>
            <a:xfrm>
              <a:off x="2956560" y="2982960"/>
              <a:ext cx="4567965" cy="256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75" spc="0" baseline="0">
                  <a:ln/>
                  <a:solidFill>
                    <a:srgbClr val="334155"/>
                  </a:solidFill>
                  <a:latin typeface="Segoe UI"/>
                  <a:cs typeface="Segoe UI"/>
                  <a:sym typeface="Segoe UI"/>
                  <a:rtl val="0"/>
                </a:rPr>
                <a:t>Noisy-or across 24 DBs (includes TS + DIANA + miRDB) • Score Class per miRNA</a:t>
              </a:r>
            </a:p>
          </p:txBody>
        </p:sp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7B76656-021A-5F26-E5E9-78D7F5F3FA17}"/>
              </a:ext>
            </a:extLst>
          </p:cNvPr>
          <p:cNvSpPr/>
          <p:nvPr/>
        </p:nvSpPr>
        <p:spPr>
          <a:xfrm>
            <a:off x="381000" y="3560969"/>
            <a:ext cx="8382000" cy="1385603"/>
          </a:xfrm>
          <a:prstGeom prst="roundRect">
            <a:avLst>
              <a:gd name="adj" fmla="val 10000"/>
            </a:avLst>
          </a:prstGeom>
          <a:solidFill>
            <a:srgbClr val="F8FAFC">
              <a:alpha val="0"/>
            </a:srgbClr>
          </a:solidFill>
          <a:ln w="9525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C7077E-7DF6-8CA7-F23D-6355E06CAE56}"/>
              </a:ext>
            </a:extLst>
          </p:cNvPr>
          <p:cNvSpPr txBox="1"/>
          <p:nvPr/>
        </p:nvSpPr>
        <p:spPr>
          <a:xfrm>
            <a:off x="480060" y="3817993"/>
            <a:ext cx="57334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b="1" spc="0" baseline="0" dirty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Documented PTEN regulators (validation context)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248B6E-4C47-9DC4-D666-E746E55D6304}"/>
              </a:ext>
            </a:extLst>
          </p:cNvPr>
          <p:cNvSpPr txBox="1"/>
          <p:nvPr/>
        </p:nvSpPr>
        <p:spPr>
          <a:xfrm>
            <a:off x="480059" y="4056872"/>
            <a:ext cx="6835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spc="0" baseline="0" dirty="0">
                <a:ln/>
                <a:solidFill>
                  <a:srgbClr val="334155"/>
                </a:solidFill>
                <a:latin typeface="Segoe UI"/>
                <a:cs typeface="Segoe UI"/>
                <a:sym typeface="Segoe UI"/>
                <a:rtl val="0"/>
              </a:rPr>
              <a:t>• </a:t>
            </a:r>
            <a:r>
              <a:rPr lang="en-US" sz="1100" b="1" spc="0" baseline="0" dirty="0">
                <a:ln/>
                <a:solidFill>
                  <a:srgbClr val="334155"/>
                </a:solidFill>
                <a:latin typeface="Segoe UI"/>
                <a:cs typeface="Segoe UI"/>
                <a:sym typeface="Segoe UI"/>
                <a:rtl val="0"/>
              </a:rPr>
              <a:t>miR-21-5p → PTEN 3′ UTR: reporter validated; widely cited; </a:t>
            </a:r>
            <a:r>
              <a:rPr lang="en-US" sz="1100" b="1" spc="0" baseline="0" dirty="0" err="1">
                <a:ln/>
                <a:solidFill>
                  <a:srgbClr val="334155"/>
                </a:solidFill>
                <a:latin typeface="Segoe UI"/>
                <a:cs typeface="Segoe UI"/>
                <a:sym typeface="Segoe UI"/>
                <a:rtl val="0"/>
              </a:rPr>
              <a:t>TargetScan</a:t>
            </a:r>
            <a:r>
              <a:rPr lang="en-US" sz="1100" b="1" spc="0" baseline="0" dirty="0">
                <a:ln/>
                <a:solidFill>
                  <a:srgbClr val="334155"/>
                </a:solidFill>
                <a:latin typeface="Segoe UI"/>
                <a:cs typeface="Segoe UI"/>
                <a:sym typeface="Segoe UI"/>
                <a:rtl val="0"/>
              </a:rPr>
              <a:t>-predicted site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72F64E-8B65-533E-8E0E-E099F10E4F61}"/>
              </a:ext>
            </a:extLst>
          </p:cNvPr>
          <p:cNvSpPr txBox="1"/>
          <p:nvPr/>
        </p:nvSpPr>
        <p:spPr>
          <a:xfrm>
            <a:off x="480060" y="4266422"/>
            <a:ext cx="7881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spc="0" baseline="0" dirty="0">
                <a:ln/>
                <a:solidFill>
                  <a:srgbClr val="334155"/>
                </a:solidFill>
                <a:latin typeface="Segoe UI"/>
                <a:cs typeface="Segoe UI"/>
                <a:sym typeface="Segoe UI"/>
                <a:rtl val="0"/>
              </a:rPr>
              <a:t>• </a:t>
            </a:r>
            <a:r>
              <a:rPr lang="en-US" sz="1100" b="1" spc="0" baseline="0" dirty="0">
                <a:ln/>
                <a:solidFill>
                  <a:srgbClr val="334155"/>
                </a:solidFill>
                <a:latin typeface="Segoe UI"/>
                <a:cs typeface="Segoe UI"/>
                <a:sym typeface="Segoe UI"/>
                <a:rtl val="0"/>
              </a:rPr>
              <a:t>miR-214-3p → PTEN 3′ UTR: luciferase reporter validated (Yang et al. 2008); </a:t>
            </a:r>
            <a:r>
              <a:rPr lang="en-US" sz="1100" b="1" spc="0" baseline="0" dirty="0" err="1">
                <a:ln/>
                <a:solidFill>
                  <a:srgbClr val="334155"/>
                </a:solidFill>
                <a:latin typeface="Segoe UI"/>
                <a:cs typeface="Segoe UI"/>
                <a:sym typeface="Segoe UI"/>
                <a:rtl val="0"/>
              </a:rPr>
              <a:t>TarBase</a:t>
            </a:r>
            <a:r>
              <a:rPr lang="en-US" sz="1100" b="1" spc="0" baseline="0" dirty="0">
                <a:ln/>
                <a:solidFill>
                  <a:srgbClr val="334155"/>
                </a:solidFill>
                <a:latin typeface="Segoe UI"/>
                <a:cs typeface="Segoe UI"/>
                <a:sym typeface="Segoe UI"/>
                <a:rtl val="0"/>
              </a:rPr>
              <a:t> / </a:t>
            </a:r>
            <a:r>
              <a:rPr lang="en-US" sz="1100" b="1" spc="0" baseline="0" dirty="0" err="1">
                <a:ln/>
                <a:solidFill>
                  <a:srgbClr val="334155"/>
                </a:solidFill>
                <a:latin typeface="Segoe UI"/>
                <a:cs typeface="Segoe UI"/>
                <a:sym typeface="Segoe UI"/>
                <a:rtl val="0"/>
              </a:rPr>
              <a:t>miRTarBase</a:t>
            </a:r>
            <a:endParaRPr lang="en-US" sz="1100" b="1" spc="0" baseline="0" dirty="0">
              <a:ln/>
              <a:solidFill>
                <a:srgbClr val="334155"/>
              </a:solidFill>
              <a:latin typeface="Segoe UI"/>
              <a:cs typeface="Segoe UI"/>
              <a:sym typeface="Segoe UI"/>
              <a:rtl val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DC6505-A3A8-6830-8402-11F80817F78C}"/>
              </a:ext>
            </a:extLst>
          </p:cNvPr>
          <p:cNvSpPr txBox="1"/>
          <p:nvPr/>
        </p:nvSpPr>
        <p:spPr>
          <a:xfrm>
            <a:off x="480059" y="4505300"/>
            <a:ext cx="7906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i="1" spc="0" baseline="0" dirty="0">
                <a:ln/>
                <a:solidFill>
                  <a:srgbClr val="64748B"/>
                </a:solidFill>
                <a:latin typeface="Segoe UI"/>
                <a:cs typeface="Segoe UI"/>
                <a:sym typeface="Segoe UI"/>
                <a:rtl val="0"/>
              </a:rPr>
              <a:t>Disagreement ≠ error — tools prioritize different evidence (conservation vs CDS vs ML vs meta-integration)</a:t>
            </a:r>
          </a:p>
        </p:txBody>
      </p:sp>
    </p:spTree>
    <p:extLst>
      <p:ext uri="{BB962C8B-B14F-4D97-AF65-F5344CB8AC3E}">
        <p14:creationId xmlns:p14="http://schemas.microsoft.com/office/powerpoint/2010/main" val="1105900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se up of pages of an open book in a bright studio">
            <a:extLst>
              <a:ext uri="{FF2B5EF4-FFF2-40B4-BE49-F238E27FC236}">
                <a16:creationId xmlns:a16="http://schemas.microsoft.com/office/drawing/2014/main" id="{A9C9B52A-A6DA-C15A-FED1-69740D9952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2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6000" b="10088"/>
          <a:stretch>
            <a:fillRect/>
          </a:stretch>
        </p:blipFill>
        <p:spPr>
          <a:xfrm>
            <a:off x="-25200" y="-14809"/>
            <a:ext cx="9194399" cy="5143500"/>
          </a:xfrm>
          <a:prstGeom prst="rect">
            <a:avLst/>
          </a:prstGeom>
        </p:spPr>
      </p:pic>
      <p:sp>
        <p:nvSpPr>
          <p:cNvPr id="50" name="Title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Advantages and Disadvantages</a:t>
            </a:r>
            <a:endParaRPr lang="en-US"/>
          </a:p>
        </p:txBody>
      </p:sp>
      <p:sp>
        <p:nvSpPr>
          <p:cNvPr id="52" name="Body Bullets"/>
          <p:cNvSpPr txBox="1">
            <a:spLocks noGrp="1"/>
          </p:cNvSpPr>
          <p:nvPr/>
        </p:nvSpPr>
        <p:spPr>
          <a:xfrm>
            <a:off x="526204" y="1339115"/>
            <a:ext cx="7644163" cy="29965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Aft>
                <a:spcPts val="40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TargetScan</a:t>
            </a:r>
            <a:r>
              <a:rPr lang="en" sz="1500" dirty="0">
                <a:solidFill>
                  <a:schemeClr val="dk1"/>
                </a:solidFill>
              </a:rPr>
              <a:t> — interpretable site types and a separate conservation axis, offset by its 3′ UTR focus and multiple incompatible scores (CWCS, occupancy, PCT)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DIANA-microT-CDS</a:t>
            </a:r>
            <a:r>
              <a:rPr lang="en" sz="1500" dirty="0">
                <a:solidFill>
                  <a:schemeClr val="dk1"/>
                </a:solidFill>
              </a:rPr>
              <a:t> — dual-region coverage, non-canonical sites, and strong proteomics sensitivity, offset by an opaque GLM and accessibility modeled only in the UTR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miRDB</a:t>
            </a:r>
            <a:r>
              <a:rPr lang="en" sz="1500" dirty="0">
                <a:solidFill>
                  <a:schemeClr val="dk1"/>
                </a:solidFill>
              </a:rPr>
              <a:t> — integrative CLIP and RNA-seq training that recovers non-conserved targets, offset by a black-box SVM, 3′ UTR-only scanning, and three seed types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mirDIP</a:t>
            </a:r>
            <a:r>
              <a:rPr lang="en" sz="1500" dirty="0">
                <a:solidFill>
                  <a:schemeClr val="dk1"/>
                </a:solidFill>
              </a:rPr>
              <a:t> — the widest coverage and a calibrated score that outperforms individual tools, offset by correlated constituent evidence rather than an independent fourth vote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Validation DBs</a:t>
            </a:r>
            <a:r>
              <a:rPr lang="en" sz="1500" dirty="0">
                <a:solidFill>
                  <a:schemeClr val="dk1"/>
                </a:solidFill>
              </a:rPr>
              <a:t> — ground truth with strong and weak tiers for tested pairs, offset by sparse coverage, where absence is not disproof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se up of pages of an open book in a bright studio">
            <a:extLst>
              <a:ext uri="{FF2B5EF4-FFF2-40B4-BE49-F238E27FC236}">
                <a16:creationId xmlns:a16="http://schemas.microsoft.com/office/drawing/2014/main" id="{A9C9B52A-A6DA-C15A-FED1-69740D9952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2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6000" b="10088"/>
          <a:stretch>
            <a:fillRect/>
          </a:stretch>
        </p:blipFill>
        <p:spPr>
          <a:xfrm>
            <a:off x="-25200" y="0"/>
            <a:ext cx="9194399" cy="5143500"/>
          </a:xfrm>
          <a:prstGeom prst="rect">
            <a:avLst/>
          </a:prstGeom>
        </p:spPr>
      </p:pic>
      <p:sp>
        <p:nvSpPr>
          <p:cNvPr id="50" name="Title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Implications for Consensus Scoring</a:t>
            </a:r>
            <a:endParaRPr lang="en-US"/>
          </a:p>
        </p:txBody>
      </p:sp>
      <p:sp>
        <p:nvSpPr>
          <p:cNvPr id="51" name="Subhead"/>
          <p:cNvSpPr txBox="1">
            <a:spLocks noGrp="1"/>
          </p:cNvSpPr>
          <p:nvPr/>
        </p:nvSpPr>
        <p:spPr>
          <a:xfrm>
            <a:off x="311700" y="1151461"/>
            <a:ext cx="7875459" cy="42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buNone/>
            </a:pPr>
            <a:r>
              <a:rPr lang="en" sz="1650" b="1" dirty="0">
                <a:solidFill>
                  <a:schemeClr val="dk1"/>
                </a:solidFill>
              </a:rPr>
              <a:t>Combining interpretive scoring from tools</a:t>
            </a:r>
          </a:p>
        </p:txBody>
      </p:sp>
      <p:sp>
        <p:nvSpPr>
          <p:cNvPr id="52" name="Body Bullets"/>
          <p:cNvSpPr txBox="1">
            <a:spLocks noGrp="1"/>
          </p:cNvSpPr>
          <p:nvPr/>
        </p:nvSpPr>
        <p:spPr>
          <a:xfrm>
            <a:off x="526205" y="1701911"/>
            <a:ext cx="7441036" cy="24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Aft>
                <a:spcPts val="40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No naive averaging</a:t>
            </a:r>
            <a:r>
              <a:rPr lang="en" sz="1500" dirty="0">
                <a:solidFill>
                  <a:schemeClr val="dk1"/>
                </a:solidFill>
              </a:rPr>
              <a:t> — the scores mix efficacy, conservation, ML confidence, and meta-integration on incompatible scales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Normalize first</a:t>
            </a:r>
            <a:r>
              <a:rPr lang="en" sz="1500" dirty="0">
                <a:solidFill>
                  <a:schemeClr val="dk1"/>
                </a:solidFill>
              </a:rPr>
              <a:t> — apply per-source percentile normalization or rank fusion, such as Borda count, before combining across tools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One primary rank per predictor</a:t>
            </a:r>
            <a:r>
              <a:rPr lang="en" sz="1500" dirty="0">
                <a:solidFill>
                  <a:schemeClr val="dk1"/>
                </a:solidFill>
              </a:rPr>
              <a:t> — export CWCS, microT, and MirTarget, then attach PCT and validation flags as separate tiers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500" b="1" dirty="0">
                <a:solidFill>
                  <a:schemeClr val="dk1"/>
                </a:solidFill>
              </a:rPr>
              <a:t>mirDIP as a meta-layer</a:t>
            </a:r>
            <a:r>
              <a:rPr lang="en" sz="1500" dirty="0">
                <a:solidFill>
                  <a:schemeClr val="dk1"/>
                </a:solidFill>
              </a:rPr>
              <a:t> — do not count TargetScan, DIANA, miRDB, and mirDIP as four equal votes</a:t>
            </a:r>
          </a:p>
        </p:txBody>
      </p:sp>
      <p:sp>
        <p:nvSpPr>
          <p:cNvPr id="53" name="Closing Note"/>
          <p:cNvSpPr txBox="1">
            <a:spLocks noGrp="1"/>
          </p:cNvSpPr>
          <p:nvPr/>
        </p:nvSpPr>
        <p:spPr>
          <a:xfrm>
            <a:off x="371874" y="4052734"/>
            <a:ext cx="8100000" cy="5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buNone/>
            </a:pPr>
            <a:r>
              <a:rPr lang="en" sz="1600" i="1" dirty="0">
                <a:solidFill>
                  <a:schemeClr val="dk1"/>
                </a:solidFill>
              </a:rPr>
              <a:t>The validation overlay annotates predictions through multiMiR — it never replaces them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2C8E070F-2494-FD3D-57D8-5404DE16D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F3D61DF-9FE0-3B4D-4C35-C95276281BCE}"/>
              </a:ext>
            </a:extLst>
          </p:cNvPr>
          <p:cNvSpPr/>
          <p:nvPr/>
        </p:nvSpPr>
        <p:spPr>
          <a:xfrm>
            <a:off x="0" y="571500"/>
            <a:ext cx="9144000" cy="40005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" name="Picture 2" descr="Close up of pages of an open book in a bright studio">
            <a:extLst>
              <a:ext uri="{FF2B5EF4-FFF2-40B4-BE49-F238E27FC236}">
                <a16:creationId xmlns:a16="http://schemas.microsoft.com/office/drawing/2014/main" id="{20F4C37B-CC76-F228-6DC7-451DBDE8822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6000" b="10088"/>
          <a:stretch>
            <a:fillRect/>
          </a:stretch>
        </p:blipFill>
        <p:spPr>
          <a:xfrm>
            <a:off x="-25200" y="-4185"/>
            <a:ext cx="9194399" cy="5143500"/>
          </a:xfrm>
          <a:prstGeom prst="rect">
            <a:avLst/>
          </a:prstGeom>
        </p:spPr>
      </p:pic>
      <p:sp>
        <p:nvSpPr>
          <p:cNvPr id="50" name="Title">
            <a:extLst>
              <a:ext uri="{FF2B5EF4-FFF2-40B4-BE49-F238E27FC236}">
                <a16:creationId xmlns:a16="http://schemas.microsoft.com/office/drawing/2014/main" id="{3EC8230D-8B9B-A641-A212-65F731966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Potential Consensus Architecture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D5A32A1-E116-1627-25BE-6C9BED37EC0B}"/>
              </a:ext>
            </a:extLst>
          </p:cNvPr>
          <p:cNvSpPr/>
          <p:nvPr/>
        </p:nvSpPr>
        <p:spPr>
          <a:xfrm>
            <a:off x="285750" y="1238250"/>
            <a:ext cx="1428750" cy="47625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9525" cap="flat">
            <a:solidFill>
              <a:srgbClr val="2563E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4DE236-C25F-DE2D-AA3D-8133AF41C257}"/>
              </a:ext>
            </a:extLst>
          </p:cNvPr>
          <p:cNvSpPr txBox="1"/>
          <p:nvPr/>
        </p:nvSpPr>
        <p:spPr>
          <a:xfrm>
            <a:off x="613447" y="1278738"/>
            <a:ext cx="773355" cy="243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spc="0" baseline="0">
                <a:ln/>
                <a:solidFill>
                  <a:srgbClr val="000000"/>
                </a:solidFill>
                <a:latin typeface="Segoe UI"/>
                <a:cs typeface="Segoe UI"/>
                <a:sym typeface="Segoe UI"/>
                <a:rtl val="0"/>
              </a:rPr>
              <a:t>TargetScan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C8A18C-0A85-737C-AE2C-18D8CCDB8050}"/>
              </a:ext>
            </a:extLst>
          </p:cNvPr>
          <p:cNvSpPr txBox="1"/>
          <p:nvPr/>
        </p:nvSpPr>
        <p:spPr>
          <a:xfrm>
            <a:off x="675466" y="1451695"/>
            <a:ext cx="649316" cy="2181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50" spc="0" baseline="0">
                <a:ln/>
                <a:solidFill>
                  <a:srgbClr val="475569"/>
                </a:solidFill>
                <a:latin typeface="Segoe UI"/>
                <a:cs typeface="Segoe UI"/>
                <a:sym typeface="Segoe UI"/>
                <a:rtl val="0"/>
              </a:rPr>
              <a:t>CWCS rank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B48EF64-3967-0512-65EC-8BA1B0B34C46}"/>
              </a:ext>
            </a:extLst>
          </p:cNvPr>
          <p:cNvSpPr/>
          <p:nvPr/>
        </p:nvSpPr>
        <p:spPr>
          <a:xfrm>
            <a:off x="285750" y="1809750"/>
            <a:ext cx="1428750" cy="476250"/>
          </a:xfrm>
          <a:prstGeom prst="roundRect">
            <a:avLst>
              <a:gd name="adj" fmla="val 16000"/>
            </a:avLst>
          </a:prstGeom>
          <a:solidFill>
            <a:srgbClr val="CFFAFE"/>
          </a:solidFill>
          <a:ln w="9525" cap="flat">
            <a:solidFill>
              <a:srgbClr val="0891B2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CA8624-A992-82D3-64C7-CDD26B0CCC32}"/>
              </a:ext>
            </a:extLst>
          </p:cNvPr>
          <p:cNvSpPr txBox="1"/>
          <p:nvPr/>
        </p:nvSpPr>
        <p:spPr>
          <a:xfrm>
            <a:off x="722919" y="1850238"/>
            <a:ext cx="554410" cy="243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spc="0" baseline="0">
                <a:ln/>
                <a:solidFill>
                  <a:srgbClr val="000000"/>
                </a:solidFill>
                <a:latin typeface="Segoe UI"/>
                <a:cs typeface="Segoe UI"/>
                <a:sym typeface="Segoe UI"/>
                <a:rtl val="0"/>
              </a:rPr>
              <a:t>DIANA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B860D1-71AA-7CF2-01A1-CABA33BC72D3}"/>
              </a:ext>
            </a:extLst>
          </p:cNvPr>
          <p:cNvSpPr txBox="1"/>
          <p:nvPr/>
        </p:nvSpPr>
        <p:spPr>
          <a:xfrm>
            <a:off x="660258" y="2023195"/>
            <a:ext cx="679733" cy="2181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50" spc="0" baseline="0">
                <a:ln/>
                <a:solidFill>
                  <a:srgbClr val="475569"/>
                </a:solidFill>
                <a:latin typeface="Segoe UI"/>
                <a:cs typeface="Segoe UI"/>
                <a:sym typeface="Segoe UI"/>
                <a:rtl val="0"/>
              </a:rPr>
              <a:t>microT rank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BDD4A24-BF12-F875-4EAD-F643BB153956}"/>
              </a:ext>
            </a:extLst>
          </p:cNvPr>
          <p:cNvSpPr/>
          <p:nvPr/>
        </p:nvSpPr>
        <p:spPr>
          <a:xfrm>
            <a:off x="285750" y="2381250"/>
            <a:ext cx="1428750" cy="476250"/>
          </a:xfrm>
          <a:prstGeom prst="roundRect">
            <a:avLst>
              <a:gd name="adj" fmla="val 16000"/>
            </a:avLst>
          </a:prstGeom>
          <a:solidFill>
            <a:srgbClr val="EDE9FE"/>
          </a:solidFill>
          <a:ln w="9525" cap="flat">
            <a:solidFill>
              <a:srgbClr val="7C3AED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A0B47A-7F5C-F8F8-543D-7EB0928E523D}"/>
              </a:ext>
            </a:extLst>
          </p:cNvPr>
          <p:cNvSpPr txBox="1"/>
          <p:nvPr/>
        </p:nvSpPr>
        <p:spPr>
          <a:xfrm>
            <a:off x="724007" y="2421738"/>
            <a:ext cx="552234" cy="243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spc="0" baseline="0">
                <a:ln/>
                <a:solidFill>
                  <a:srgbClr val="000000"/>
                </a:solidFill>
                <a:latin typeface="Segoe UI"/>
                <a:cs typeface="Segoe UI"/>
                <a:sym typeface="Segoe UI"/>
                <a:rtl val="0"/>
              </a:rPr>
              <a:t>miRDB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9951DC-4A65-445E-C428-010D79C4FC5A}"/>
              </a:ext>
            </a:extLst>
          </p:cNvPr>
          <p:cNvSpPr txBox="1"/>
          <p:nvPr/>
        </p:nvSpPr>
        <p:spPr>
          <a:xfrm>
            <a:off x="603889" y="2594695"/>
            <a:ext cx="792470" cy="2181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50" spc="0" baseline="0">
                <a:ln/>
                <a:solidFill>
                  <a:srgbClr val="475569"/>
                </a:solidFill>
                <a:latin typeface="Segoe UI"/>
                <a:cs typeface="Segoe UI"/>
                <a:sym typeface="Segoe UI"/>
                <a:rtl val="0"/>
              </a:rPr>
              <a:t>MirTarget rank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4ECF290-0991-9730-CA9F-7C7CBBD5AEE8}"/>
              </a:ext>
            </a:extLst>
          </p:cNvPr>
          <p:cNvSpPr/>
          <p:nvPr/>
        </p:nvSpPr>
        <p:spPr>
          <a:xfrm>
            <a:off x="285750" y="2952750"/>
            <a:ext cx="1428750" cy="47625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9525" cap="flat">
            <a:solidFill>
              <a:srgbClr val="EA580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8C3D02-8EA7-6448-2800-24A4C0ADF91B}"/>
              </a:ext>
            </a:extLst>
          </p:cNvPr>
          <p:cNvSpPr txBox="1"/>
          <p:nvPr/>
        </p:nvSpPr>
        <p:spPr>
          <a:xfrm>
            <a:off x="721998" y="2993238"/>
            <a:ext cx="556252" cy="243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spc="0" baseline="0">
                <a:ln/>
                <a:solidFill>
                  <a:srgbClr val="000000"/>
                </a:solidFill>
                <a:latin typeface="Segoe UI"/>
                <a:cs typeface="Segoe UI"/>
                <a:sym typeface="Segoe UI"/>
                <a:rtl val="0"/>
              </a:rPr>
              <a:t>mirDIP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ED3884-CFC8-E1DC-AEFE-22041E48A39A}"/>
              </a:ext>
            </a:extLst>
          </p:cNvPr>
          <p:cNvSpPr txBox="1"/>
          <p:nvPr/>
        </p:nvSpPr>
        <p:spPr>
          <a:xfrm>
            <a:off x="580588" y="3166195"/>
            <a:ext cx="839072" cy="2181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50" spc="0" baseline="0">
                <a:ln/>
                <a:solidFill>
                  <a:srgbClr val="475569"/>
                </a:solidFill>
                <a:latin typeface="Segoe UI"/>
                <a:cs typeface="Segoe UI"/>
                <a:sym typeface="Segoe UI"/>
                <a:rtl val="0"/>
              </a:rPr>
              <a:t>meta-layer only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6A19FCC-081E-CB66-3570-566F88C161EB}"/>
              </a:ext>
            </a:extLst>
          </p:cNvPr>
          <p:cNvSpPr/>
          <p:nvPr/>
        </p:nvSpPr>
        <p:spPr>
          <a:xfrm>
            <a:off x="1714500" y="1476375"/>
            <a:ext cx="571500" cy="619125"/>
          </a:xfrm>
          <a:custGeom>
            <a:avLst/>
            <a:gdLst>
              <a:gd name="csX0" fmla="*/ 0 w 571500"/>
              <a:gd name="csY0" fmla="*/ 0 h 619125"/>
              <a:gd name="csX1" fmla="*/ 571500 w 571500"/>
              <a:gd name="csY1" fmla="*/ 619125 h 619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71500" h="619125">
                <a:moveTo>
                  <a:pt x="0" y="0"/>
                </a:moveTo>
                <a:lnTo>
                  <a:pt x="571500" y="619125"/>
                </a:lnTo>
              </a:path>
            </a:pathLst>
          </a:custGeom>
          <a:ln w="19050" cap="flat">
            <a:solidFill>
              <a:srgbClr val="33415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D548F7D-F782-CB70-E74E-6A28DB5140BF}"/>
              </a:ext>
            </a:extLst>
          </p:cNvPr>
          <p:cNvSpPr/>
          <p:nvPr/>
        </p:nvSpPr>
        <p:spPr>
          <a:xfrm>
            <a:off x="1714500" y="2047875"/>
            <a:ext cx="571500" cy="142875"/>
          </a:xfrm>
          <a:custGeom>
            <a:avLst/>
            <a:gdLst>
              <a:gd name="csX0" fmla="*/ 0 w 571500"/>
              <a:gd name="csY0" fmla="*/ 0 h 142875"/>
              <a:gd name="csX1" fmla="*/ 571500 w 571500"/>
              <a:gd name="csY1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71500" h="142875">
                <a:moveTo>
                  <a:pt x="0" y="0"/>
                </a:moveTo>
                <a:lnTo>
                  <a:pt x="571500" y="142875"/>
                </a:lnTo>
              </a:path>
            </a:pathLst>
          </a:custGeom>
          <a:ln w="19050" cap="flat">
            <a:solidFill>
              <a:srgbClr val="33415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A939FE3-E77A-16C4-27EF-E41AD7561FC0}"/>
              </a:ext>
            </a:extLst>
          </p:cNvPr>
          <p:cNvSpPr/>
          <p:nvPr/>
        </p:nvSpPr>
        <p:spPr>
          <a:xfrm>
            <a:off x="1714500" y="2286000"/>
            <a:ext cx="571500" cy="333375"/>
          </a:xfrm>
          <a:custGeom>
            <a:avLst/>
            <a:gdLst>
              <a:gd name="csX0" fmla="*/ 0 w 571500"/>
              <a:gd name="csY0" fmla="*/ 333375 h 333375"/>
              <a:gd name="csX1" fmla="*/ 571500 w 571500"/>
              <a:gd name="csY1" fmla="*/ 0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71500" h="333375">
                <a:moveTo>
                  <a:pt x="0" y="333375"/>
                </a:moveTo>
                <a:lnTo>
                  <a:pt x="571500" y="0"/>
                </a:lnTo>
              </a:path>
            </a:pathLst>
          </a:custGeom>
          <a:ln w="19050" cap="flat">
            <a:solidFill>
              <a:srgbClr val="33415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0A06FD6-8FB4-C0C3-BFC7-A0E5EC38ACE2}"/>
              </a:ext>
            </a:extLst>
          </p:cNvPr>
          <p:cNvSpPr/>
          <p:nvPr/>
        </p:nvSpPr>
        <p:spPr>
          <a:xfrm>
            <a:off x="1714500" y="2476500"/>
            <a:ext cx="571500" cy="714375"/>
          </a:xfrm>
          <a:custGeom>
            <a:avLst/>
            <a:gdLst>
              <a:gd name="csX0" fmla="*/ 0 w 571500"/>
              <a:gd name="csY0" fmla="*/ 714375 h 714375"/>
              <a:gd name="csX1" fmla="*/ 571500 w 571500"/>
              <a:gd name="csY1" fmla="*/ 0 h 714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71500" h="714375">
                <a:moveTo>
                  <a:pt x="0" y="714375"/>
                </a:moveTo>
                <a:lnTo>
                  <a:pt x="571500" y="0"/>
                </a:lnTo>
              </a:path>
            </a:pathLst>
          </a:custGeom>
          <a:ln w="19050" cap="flat">
            <a:solidFill>
              <a:srgbClr val="33415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0BD328E-0A87-353B-1182-BA3617C45673}"/>
              </a:ext>
            </a:extLst>
          </p:cNvPr>
          <p:cNvSpPr/>
          <p:nvPr/>
        </p:nvSpPr>
        <p:spPr>
          <a:xfrm>
            <a:off x="2286000" y="1809750"/>
            <a:ext cx="1905000" cy="76200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9050" cap="flat">
            <a:solidFill>
              <a:srgbClr val="D9770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F64152-86CB-D97F-3E47-FEA854482AEB}"/>
              </a:ext>
            </a:extLst>
          </p:cNvPr>
          <p:cNvSpPr txBox="1"/>
          <p:nvPr/>
        </p:nvSpPr>
        <p:spPr>
          <a:xfrm>
            <a:off x="2813750" y="1886831"/>
            <a:ext cx="849499" cy="26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spc="0" baseline="0">
                <a:ln/>
                <a:solidFill>
                  <a:srgbClr val="92400E"/>
                </a:solidFill>
                <a:latin typeface="Segoe UI"/>
                <a:cs typeface="Segoe UI"/>
                <a:sym typeface="Segoe UI"/>
                <a:rtl val="0"/>
              </a:rPr>
              <a:t>Per-source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2B01AB-A560-ECF2-06B9-827DF80FF831}"/>
              </a:ext>
            </a:extLst>
          </p:cNvPr>
          <p:cNvSpPr txBox="1"/>
          <p:nvPr/>
        </p:nvSpPr>
        <p:spPr>
          <a:xfrm>
            <a:off x="2590935" y="2077331"/>
            <a:ext cx="1295128" cy="26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spc="0" baseline="0">
                <a:ln/>
                <a:solidFill>
                  <a:srgbClr val="92400E"/>
                </a:solidFill>
                <a:latin typeface="Segoe UI"/>
                <a:cs typeface="Segoe UI"/>
                <a:sym typeface="Segoe UI"/>
                <a:rtl val="0"/>
              </a:rPr>
              <a:t>percentile or rank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E1B91B-1944-C5A4-76B3-CCE0120C3A45}"/>
              </a:ext>
            </a:extLst>
          </p:cNvPr>
          <p:cNvSpPr txBox="1"/>
          <p:nvPr/>
        </p:nvSpPr>
        <p:spPr>
          <a:xfrm>
            <a:off x="2579008" y="2298667"/>
            <a:ext cx="1318982" cy="230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spc="0" baseline="0">
                <a:ln/>
                <a:solidFill>
                  <a:srgbClr val="78350F"/>
                </a:solidFill>
                <a:latin typeface="Segoe UI"/>
                <a:cs typeface="Segoe UI"/>
                <a:sym typeface="Segoe UI"/>
                <a:rtl val="0"/>
              </a:rPr>
              <a:t>Never raw score average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8FFD9BA-DC96-5E23-C234-827421407E22}"/>
              </a:ext>
            </a:extLst>
          </p:cNvPr>
          <p:cNvSpPr/>
          <p:nvPr/>
        </p:nvSpPr>
        <p:spPr>
          <a:xfrm>
            <a:off x="4191000" y="2190750"/>
            <a:ext cx="571500" cy="9525"/>
          </a:xfrm>
          <a:custGeom>
            <a:avLst/>
            <a:gdLst>
              <a:gd name="csX0" fmla="*/ 0 w 571500"/>
              <a:gd name="csY0" fmla="*/ 0 h 9525"/>
              <a:gd name="csX1" fmla="*/ 571500 w 57150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ln w="19050" cap="flat">
            <a:solidFill>
              <a:srgbClr val="33415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8677ADB-D792-768D-B9C1-A787A8B188E0}"/>
              </a:ext>
            </a:extLst>
          </p:cNvPr>
          <p:cNvSpPr/>
          <p:nvPr/>
        </p:nvSpPr>
        <p:spPr>
          <a:xfrm>
            <a:off x="4762500" y="1809750"/>
            <a:ext cx="1905000" cy="762000"/>
          </a:xfrm>
          <a:prstGeom prst="roundRect">
            <a:avLst>
              <a:gd name="adj" fmla="val 15000"/>
            </a:avLst>
          </a:prstGeom>
          <a:solidFill>
            <a:srgbClr val="E0E7FF"/>
          </a:solidFill>
          <a:ln w="19050" cap="flat">
            <a:solidFill>
              <a:srgbClr val="6366F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CAF70A-4192-547F-4CEF-F721CF21F491}"/>
              </a:ext>
            </a:extLst>
          </p:cNvPr>
          <p:cNvSpPr txBox="1"/>
          <p:nvPr/>
        </p:nvSpPr>
        <p:spPr>
          <a:xfrm>
            <a:off x="5252875" y="1924931"/>
            <a:ext cx="924248" cy="26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spc="0" baseline="0">
                <a:ln/>
                <a:solidFill>
                  <a:srgbClr val="4338CA"/>
                </a:solidFill>
                <a:latin typeface="Segoe UI"/>
                <a:cs typeface="Segoe UI"/>
                <a:sym typeface="Segoe UI"/>
                <a:rtl val="0"/>
              </a:rPr>
              <a:t>Rank fusion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64305F-E42A-BB95-0E84-B89768AB164E}"/>
              </a:ext>
            </a:extLst>
          </p:cNvPr>
          <p:cNvSpPr txBox="1"/>
          <p:nvPr/>
        </p:nvSpPr>
        <p:spPr>
          <a:xfrm>
            <a:off x="5035707" y="2155038"/>
            <a:ext cx="1358584" cy="243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>
                <a:ln/>
                <a:solidFill>
                  <a:srgbClr val="475569"/>
                </a:solidFill>
                <a:latin typeface="Segoe UI"/>
                <a:cs typeface="Segoe UI"/>
                <a:sym typeface="Segoe UI"/>
                <a:rtl val="0"/>
              </a:rPr>
              <a:t>Borda / tiered evidence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991ACF-ED3B-0D45-C108-32C75B583FB7}"/>
              </a:ext>
            </a:extLst>
          </p:cNvPr>
          <p:cNvSpPr txBox="1"/>
          <p:nvPr/>
        </p:nvSpPr>
        <p:spPr>
          <a:xfrm>
            <a:off x="4983092" y="2336767"/>
            <a:ext cx="1463815" cy="230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spc="0" baseline="0">
                <a:ln/>
                <a:solidFill>
                  <a:srgbClr val="64748B"/>
                </a:solidFill>
                <a:latin typeface="Segoe UI"/>
                <a:cs typeface="Segoe UI"/>
                <a:sym typeface="Segoe UI"/>
                <a:rtl val="0"/>
              </a:rPr>
              <a:t>mirDIP = optional meta-tier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8485E59-56AB-25D2-D0F5-0379CA73805D}"/>
              </a:ext>
            </a:extLst>
          </p:cNvPr>
          <p:cNvSpPr/>
          <p:nvPr/>
        </p:nvSpPr>
        <p:spPr>
          <a:xfrm>
            <a:off x="6667500" y="2190750"/>
            <a:ext cx="571500" cy="9525"/>
          </a:xfrm>
          <a:custGeom>
            <a:avLst/>
            <a:gdLst>
              <a:gd name="csX0" fmla="*/ 0 w 571500"/>
              <a:gd name="csY0" fmla="*/ 0 h 9525"/>
              <a:gd name="csX1" fmla="*/ 571500 w 57150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ln w="19050" cap="flat">
            <a:solidFill>
              <a:srgbClr val="33415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921A10E-CA5E-94B9-C04F-406CCB99ACD5}"/>
              </a:ext>
            </a:extLst>
          </p:cNvPr>
          <p:cNvSpPr/>
          <p:nvPr/>
        </p:nvSpPr>
        <p:spPr>
          <a:xfrm>
            <a:off x="7239000" y="1619250"/>
            <a:ext cx="1619250" cy="11430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9050" cap="flat">
            <a:solidFill>
              <a:srgbClr val="16A34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C5DB741-F872-83BF-99AA-35F988E9AAFC}"/>
              </a:ext>
            </a:extLst>
          </p:cNvPr>
          <p:cNvSpPr txBox="1"/>
          <p:nvPr/>
        </p:nvSpPr>
        <p:spPr>
          <a:xfrm>
            <a:off x="7629735" y="1715381"/>
            <a:ext cx="837779" cy="26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spc="0" baseline="0">
                <a:ln/>
                <a:solidFill>
                  <a:srgbClr val="166534"/>
                </a:solidFill>
                <a:latin typeface="Segoe UI"/>
                <a:cs typeface="Segoe UI"/>
                <a:sym typeface="Segoe UI"/>
                <a:rtl val="0"/>
              </a:rPr>
              <a:t>Consensus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B34FCA-DDEE-D8F2-D278-C7E95D10DE9D}"/>
              </a:ext>
            </a:extLst>
          </p:cNvPr>
          <p:cNvSpPr txBox="1"/>
          <p:nvPr/>
        </p:nvSpPr>
        <p:spPr>
          <a:xfrm>
            <a:off x="7629181" y="1924931"/>
            <a:ext cx="838886" cy="26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spc="0" baseline="0">
                <a:ln/>
                <a:solidFill>
                  <a:srgbClr val="166534"/>
                </a:solidFill>
                <a:latin typeface="Segoe UI"/>
                <a:cs typeface="Segoe UI"/>
                <a:sym typeface="Segoe UI"/>
                <a:rtl val="0"/>
              </a:rPr>
              <a:t>ranked list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533832-DAEB-E07D-0E42-362527BFC572}"/>
              </a:ext>
            </a:extLst>
          </p:cNvPr>
          <p:cNvSpPr txBox="1"/>
          <p:nvPr/>
        </p:nvSpPr>
        <p:spPr>
          <a:xfrm>
            <a:off x="7551591" y="2222467"/>
            <a:ext cx="994067" cy="230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spc="0" baseline="0">
                <a:ln/>
                <a:solidFill>
                  <a:srgbClr val="475569"/>
                </a:solidFill>
                <a:latin typeface="Segoe UI"/>
                <a:cs typeface="Segoe UI"/>
                <a:sym typeface="Segoe UI"/>
                <a:rtl val="0"/>
              </a:rPr>
              <a:t>+ PCT annotation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E11959-7820-9AD5-1D11-1C0B88EA1ABC}"/>
              </a:ext>
            </a:extLst>
          </p:cNvPr>
          <p:cNvSpPr txBox="1"/>
          <p:nvPr/>
        </p:nvSpPr>
        <p:spPr>
          <a:xfrm>
            <a:off x="7580649" y="2393917"/>
            <a:ext cx="935950" cy="230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spc="0" baseline="0">
                <a:ln/>
                <a:solidFill>
                  <a:srgbClr val="475569"/>
                </a:solidFill>
                <a:latin typeface="Segoe UI"/>
                <a:cs typeface="Segoe UI"/>
                <a:sym typeface="Segoe UI"/>
                <a:rtl val="0"/>
              </a:rPr>
              <a:t>+ validation flag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4DFF3F6-5E80-E8F4-FB75-18B02834CDE4}"/>
              </a:ext>
            </a:extLst>
          </p:cNvPr>
          <p:cNvSpPr/>
          <p:nvPr/>
        </p:nvSpPr>
        <p:spPr>
          <a:xfrm>
            <a:off x="2286000" y="3048000"/>
            <a:ext cx="4000500" cy="533400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9525" cap="flat">
            <a:solidFill>
              <a:srgbClr val="22C55E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14C2D6-CF08-B005-847C-AF3F186F81C7}"/>
              </a:ext>
            </a:extLst>
          </p:cNvPr>
          <p:cNvSpPr txBox="1"/>
          <p:nvPr/>
        </p:nvSpPr>
        <p:spPr>
          <a:xfrm>
            <a:off x="2987486" y="3097260"/>
            <a:ext cx="2597527" cy="2561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b="1" spc="0" baseline="0">
                <a:ln/>
                <a:solidFill>
                  <a:srgbClr val="166534"/>
                </a:solidFill>
                <a:latin typeface="Segoe UI"/>
                <a:cs typeface="Segoe UI"/>
                <a:sym typeface="Segoe UI"/>
                <a:rtl val="0"/>
              </a:rPr>
              <a:t>Validation overlay (miRTarBase / TarBase)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8785C7-589D-9F3E-EEA4-9B3D0E37E366}"/>
              </a:ext>
            </a:extLst>
          </p:cNvPr>
          <p:cNvSpPr txBox="1"/>
          <p:nvPr/>
        </p:nvSpPr>
        <p:spPr>
          <a:xfrm>
            <a:off x="2605018" y="3298038"/>
            <a:ext cx="3362462" cy="243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>
                <a:ln/>
                <a:solidFill>
                  <a:srgbClr val="475569"/>
                </a:solidFill>
                <a:latin typeface="Segoe UI"/>
                <a:cs typeface="Segoe UI"/>
                <a:sym typeface="Segoe UI"/>
                <a:rtl val="0"/>
              </a:rPr>
              <a:t>experimental_support • strong/weak tier • separate from fusion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BC80C30F-57E7-A3E8-8E8E-463610C1B6B8}"/>
              </a:ext>
            </a:extLst>
          </p:cNvPr>
          <p:cNvSpPr/>
          <p:nvPr/>
        </p:nvSpPr>
        <p:spPr>
          <a:xfrm>
            <a:off x="5715000" y="2762250"/>
            <a:ext cx="2333625" cy="285750"/>
          </a:xfrm>
          <a:custGeom>
            <a:avLst/>
            <a:gdLst>
              <a:gd name="csX0" fmla="*/ 0 w 2333625"/>
              <a:gd name="csY0" fmla="*/ 285750 h 285750"/>
              <a:gd name="csX1" fmla="*/ 2333625 w 2333625"/>
              <a:gd name="csY1" fmla="*/ 0 h 285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333625" h="285750">
                <a:moveTo>
                  <a:pt x="0" y="285750"/>
                </a:moveTo>
                <a:lnTo>
                  <a:pt x="2333625" y="0"/>
                </a:lnTo>
              </a:path>
            </a:pathLst>
          </a:custGeom>
          <a:ln w="19050" cap="flat">
            <a:solidFill>
              <a:srgbClr val="16A34A"/>
            </a:solidFill>
            <a:custDash>
              <a:ds d="450000" sp="300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46D7431-B3B3-C8F9-7FA1-D9F918A41D06}"/>
              </a:ext>
            </a:extLst>
          </p:cNvPr>
          <p:cNvSpPr/>
          <p:nvPr/>
        </p:nvSpPr>
        <p:spPr>
          <a:xfrm>
            <a:off x="1714500" y="3905250"/>
            <a:ext cx="5715000" cy="457200"/>
          </a:xfrm>
          <a:prstGeom prst="roundRect">
            <a:avLst>
              <a:gd name="adj" fmla="val 20833"/>
            </a:avLst>
          </a:prstGeom>
          <a:solidFill>
            <a:srgbClr val="FEE2E2"/>
          </a:solidFill>
          <a:ln w="9525" cap="flat">
            <a:solidFill>
              <a:srgbClr val="EF4444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F468CD-68C0-23BF-2848-D5DEF4E0D8F6}"/>
              </a:ext>
            </a:extLst>
          </p:cNvPr>
          <p:cNvSpPr txBox="1"/>
          <p:nvPr/>
        </p:nvSpPr>
        <p:spPr>
          <a:xfrm>
            <a:off x="2251928" y="4001381"/>
            <a:ext cx="4640142" cy="26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spc="0" baseline="0">
                <a:ln/>
                <a:solidFill>
                  <a:srgbClr val="991B1B"/>
                </a:solidFill>
                <a:latin typeface="Segoe UI"/>
                <a:cs typeface="Segoe UI"/>
                <a:sym typeface="Segoe UI"/>
                <a:rtl val="0"/>
              </a:rPr>
              <a:t>Do not add TargetScan + DIANA + miRDB + mirDIP as four equal votes</a:t>
            </a:r>
          </a:p>
        </p:txBody>
      </p:sp>
    </p:spTree>
    <p:extLst>
      <p:ext uri="{BB962C8B-B14F-4D97-AF65-F5344CB8AC3E}">
        <p14:creationId xmlns:p14="http://schemas.microsoft.com/office/powerpoint/2010/main" val="935839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se up of pages of an open book in a bright studio">
            <a:extLst>
              <a:ext uri="{FF2B5EF4-FFF2-40B4-BE49-F238E27FC236}">
                <a16:creationId xmlns:a16="http://schemas.microsoft.com/office/drawing/2014/main" id="{A9C9B52A-A6DA-C15A-FED1-69740D9952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2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6000" b="10088"/>
          <a:stretch>
            <a:fillRect/>
          </a:stretch>
        </p:blipFill>
        <p:spPr>
          <a:xfrm>
            <a:off x="-25200" y="0"/>
            <a:ext cx="9194399" cy="5143500"/>
          </a:xfrm>
          <a:prstGeom prst="rect">
            <a:avLst/>
          </a:prstGeom>
        </p:spPr>
      </p:pic>
      <p:sp>
        <p:nvSpPr>
          <p:cNvPr id="50" name="Title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References</a:t>
            </a:r>
            <a:endParaRPr lang="en-US" dirty="0"/>
          </a:p>
        </p:txBody>
      </p:sp>
      <p:sp>
        <p:nvSpPr>
          <p:cNvPr id="51" name="Subhead"/>
          <p:cNvSpPr txBox="1">
            <a:spLocks noGrp="1"/>
          </p:cNvSpPr>
          <p:nvPr/>
        </p:nvSpPr>
        <p:spPr>
          <a:xfrm>
            <a:off x="311700" y="1151461"/>
            <a:ext cx="7875459" cy="42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buNone/>
            </a:pPr>
            <a:r>
              <a:rPr lang="en" sz="1650" b="1">
                <a:solidFill>
                  <a:schemeClr val="dk1"/>
                </a:solidFill>
              </a:rPr>
              <a:t>Key sources</a:t>
            </a:r>
          </a:p>
        </p:txBody>
      </p:sp>
      <p:sp>
        <p:nvSpPr>
          <p:cNvPr id="52" name="Refs Left"/>
          <p:cNvSpPr txBox="1">
            <a:spLocks noGrp="1"/>
          </p:cNvSpPr>
          <p:nvPr/>
        </p:nvSpPr>
        <p:spPr>
          <a:xfrm>
            <a:off x="526205" y="1701911"/>
            <a:ext cx="3900000" cy="26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Aft>
                <a:spcPts val="400"/>
              </a:spcAft>
              <a:buNone/>
            </a:pPr>
            <a:r>
              <a:rPr lang="en" sz="1300" dirty="0">
                <a:solidFill>
                  <a:schemeClr val="dk1"/>
                </a:solidFill>
              </a:rPr>
              <a:t>Lewis BP et al. (2005). </a:t>
            </a:r>
            <a:r>
              <a:rPr lang="en" sz="1300" i="1" dirty="0">
                <a:solidFill>
                  <a:schemeClr val="dk1"/>
                </a:solidFill>
              </a:rPr>
              <a:t>Cell</a:t>
            </a:r>
            <a:r>
              <a:rPr lang="en" sz="1300" dirty="0">
                <a:solidFill>
                  <a:schemeClr val="dk1"/>
                </a:solidFill>
              </a:rPr>
              <a:t> — seed matching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300" dirty="0">
                <a:solidFill>
                  <a:schemeClr val="dk1"/>
                </a:solidFill>
              </a:rPr>
              <a:t>Agarwal V et al. (2015). </a:t>
            </a:r>
            <a:r>
              <a:rPr lang="en" sz="1300" i="1" dirty="0">
                <a:solidFill>
                  <a:schemeClr val="dk1"/>
                </a:solidFill>
              </a:rPr>
              <a:t>eLife</a:t>
            </a:r>
            <a:r>
              <a:rPr lang="en" sz="1300" dirty="0">
                <a:solidFill>
                  <a:schemeClr val="dk1"/>
                </a:solidFill>
              </a:rPr>
              <a:t> — Context++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300" dirty="0">
                <a:solidFill>
                  <a:schemeClr val="dk1"/>
                </a:solidFill>
              </a:rPr>
              <a:t>Friedman RC et al. (2009). </a:t>
            </a:r>
            <a:r>
              <a:rPr lang="en" sz="1300" i="1" dirty="0">
                <a:solidFill>
                  <a:schemeClr val="dk1"/>
                </a:solidFill>
              </a:rPr>
              <a:t>Genome Res</a:t>
            </a:r>
            <a:r>
              <a:rPr lang="en" sz="1300" dirty="0">
                <a:solidFill>
                  <a:schemeClr val="dk1"/>
                </a:solidFill>
              </a:rPr>
              <a:t> — PCT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300" dirty="0">
                <a:solidFill>
                  <a:schemeClr val="dk1"/>
                </a:solidFill>
              </a:rPr>
              <a:t>McGeary SE et al. (2019). </a:t>
            </a:r>
            <a:r>
              <a:rPr lang="en" sz="1300" i="1" dirty="0">
                <a:solidFill>
                  <a:schemeClr val="dk1"/>
                </a:solidFill>
              </a:rPr>
              <a:t>Science</a:t>
            </a:r>
            <a:r>
              <a:rPr lang="en" sz="1300" dirty="0">
                <a:solidFill>
                  <a:schemeClr val="dk1"/>
                </a:solidFill>
              </a:rPr>
              <a:t> — TargetScan 8.0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300" dirty="0">
                <a:solidFill>
                  <a:schemeClr val="dk1"/>
                </a:solidFill>
              </a:rPr>
              <a:t>Reczko M et al. (2012). </a:t>
            </a:r>
            <a:r>
              <a:rPr lang="en" sz="1300" i="1" dirty="0">
                <a:solidFill>
                  <a:schemeClr val="dk1"/>
                </a:solidFill>
              </a:rPr>
              <a:t>Bioinformatics</a:t>
            </a:r>
            <a:r>
              <a:rPr lang="en" sz="1300" dirty="0">
                <a:solidFill>
                  <a:schemeClr val="dk1"/>
                </a:solidFill>
              </a:rPr>
              <a:t> — DIANA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300" dirty="0">
                <a:solidFill>
                  <a:schemeClr val="dk1"/>
                </a:solidFill>
              </a:rPr>
              <a:t>Liu W, Wang X (2019). </a:t>
            </a:r>
            <a:r>
              <a:rPr lang="en" sz="1300" i="1" dirty="0">
                <a:solidFill>
                  <a:schemeClr val="dk1"/>
                </a:solidFill>
              </a:rPr>
              <a:t>Genome Biol</a:t>
            </a:r>
            <a:r>
              <a:rPr lang="en" sz="1300" dirty="0">
                <a:solidFill>
                  <a:schemeClr val="dk1"/>
                </a:solidFill>
              </a:rPr>
              <a:t> — MirTarget</a:t>
            </a:r>
          </a:p>
        </p:txBody>
      </p:sp>
      <p:sp>
        <p:nvSpPr>
          <p:cNvPr id="54" name="Refs Right"/>
          <p:cNvSpPr txBox="1">
            <a:spLocks noGrp="1"/>
          </p:cNvSpPr>
          <p:nvPr/>
        </p:nvSpPr>
        <p:spPr>
          <a:xfrm>
            <a:off x="4600000" y="1701911"/>
            <a:ext cx="3900000" cy="26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Aft>
                <a:spcPts val="4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Tokar T et al. (2018). </a:t>
            </a:r>
            <a:r>
              <a:rPr lang="en" sz="1300" i="1">
                <a:solidFill>
                  <a:schemeClr val="dk1"/>
                </a:solidFill>
              </a:rPr>
              <a:t>NAR</a:t>
            </a:r>
            <a:r>
              <a:rPr lang="en" sz="1300">
                <a:solidFill>
                  <a:schemeClr val="dk1"/>
                </a:solidFill>
              </a:rPr>
              <a:t> — mirDIP score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300">
                <a:solidFill>
                  <a:schemeClr val="dk1"/>
                </a:solidFill>
              </a:rPr>
              <a:t>Hauschild AC et al. (2023). </a:t>
            </a:r>
            <a:r>
              <a:rPr lang="en" sz="1300" i="1">
                <a:solidFill>
                  <a:schemeClr val="dk1"/>
                </a:solidFill>
              </a:rPr>
              <a:t>NAR</a:t>
            </a:r>
            <a:r>
              <a:rPr lang="en" sz="1300">
                <a:solidFill>
                  <a:schemeClr val="dk1"/>
                </a:solidFill>
              </a:rPr>
              <a:t> — mirDIP 5.2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300">
                <a:solidFill>
                  <a:schemeClr val="dk1"/>
                </a:solidFill>
              </a:rPr>
              <a:t>Cui S et al. (2025). </a:t>
            </a:r>
            <a:r>
              <a:rPr lang="en" sz="1300" i="1">
                <a:solidFill>
                  <a:schemeClr val="dk1"/>
                </a:solidFill>
              </a:rPr>
              <a:t>NAR</a:t>
            </a:r>
            <a:r>
              <a:rPr lang="en" sz="1300">
                <a:solidFill>
                  <a:schemeClr val="dk1"/>
                </a:solidFill>
              </a:rPr>
              <a:t> — miRTarBase 2025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300">
                <a:solidFill>
                  <a:schemeClr val="dk1"/>
                </a:solidFill>
              </a:rPr>
              <a:t>Skoufos G et al. (2024). </a:t>
            </a:r>
            <a:r>
              <a:rPr lang="en" sz="1300" i="1">
                <a:solidFill>
                  <a:schemeClr val="dk1"/>
                </a:solidFill>
              </a:rPr>
              <a:t>NAR</a:t>
            </a:r>
            <a:r>
              <a:rPr lang="en" sz="1300">
                <a:solidFill>
                  <a:schemeClr val="dk1"/>
                </a:solidFill>
              </a:rPr>
              <a:t> — TarBase v9.0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300">
                <a:solidFill>
                  <a:schemeClr val="dk1"/>
                </a:solidFill>
              </a:rPr>
              <a:t>Yang H et al. (2008). </a:t>
            </a:r>
            <a:r>
              <a:rPr lang="en" sz="1300" i="1">
                <a:solidFill>
                  <a:schemeClr val="dk1"/>
                </a:solidFill>
              </a:rPr>
              <a:t>Cancer Res</a:t>
            </a:r>
            <a:r>
              <a:rPr lang="en" sz="1300">
                <a:solidFill>
                  <a:schemeClr val="dk1"/>
                </a:solidFill>
              </a:rPr>
              <a:t> — miR-214</a:t>
            </a:r>
          </a:p>
          <a:p>
            <a:pPr marL="0" lvl="0" indent="0" algn="l" rtl="0">
              <a:spcBef>
                <a:spcPts val="500"/>
              </a:spcBef>
              <a:buNone/>
            </a:pPr>
            <a:r>
              <a:rPr lang="en" sz="1300">
                <a:solidFill>
                  <a:schemeClr val="dk1"/>
                </a:solidFill>
              </a:rPr>
              <a:t>Meng F et al. (2007). </a:t>
            </a:r>
            <a:r>
              <a:rPr lang="en" sz="1300" i="1">
                <a:solidFill>
                  <a:schemeClr val="dk1"/>
                </a:solidFill>
              </a:rPr>
              <a:t>Exp Biol Med</a:t>
            </a:r>
            <a:r>
              <a:rPr lang="en" sz="1300">
                <a:solidFill>
                  <a:schemeClr val="dk1"/>
                </a:solidFill>
              </a:rPr>
              <a:t> — miR-21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4771</TotalTime>
  <Words>2425</Words>
  <Application>Microsoft Office PowerPoint</Application>
  <PresentationFormat>On-screen Show (16:9)</PresentationFormat>
  <Paragraphs>244</Paragraphs>
  <Slides>22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Cambria</vt:lpstr>
      <vt:lpstr>Segoe UI</vt:lpstr>
      <vt:lpstr>Simple Light</vt:lpstr>
      <vt:lpstr>miRNA Target Prediction Comparison of Computation Prediction Algorithms</vt:lpstr>
      <vt:lpstr>Why miRNA Target Prediction Is Hard</vt:lpstr>
      <vt:lpstr>miRNAs and Targets</vt:lpstr>
      <vt:lpstr>Prediction vs Experimental Validation</vt:lpstr>
      <vt:lpstr>Prediction vs Experimental Validation</vt:lpstr>
      <vt:lpstr>Prediction Pipeline</vt:lpstr>
      <vt:lpstr>Prediction Pipeline</vt:lpstr>
      <vt:lpstr>TargetScan Scoring System</vt:lpstr>
      <vt:lpstr>TargetScan Scoring System</vt:lpstr>
      <vt:lpstr>DIANA-microT-CDS Overview</vt:lpstr>
      <vt:lpstr>DIANA Scoring System</vt:lpstr>
      <vt:lpstr>miRDB</vt:lpstr>
      <vt:lpstr>mirDIP</vt:lpstr>
      <vt:lpstr>Validation Databases</vt:lpstr>
      <vt:lpstr>Side-by-Side Comparison</vt:lpstr>
      <vt:lpstr>Side-by-Side Comparison</vt:lpstr>
      <vt:lpstr>Why Algorithms Disagree</vt:lpstr>
      <vt:lpstr>PTEN: Why Tools Disagree</vt:lpstr>
      <vt:lpstr>Advantages and Disadvantages</vt:lpstr>
      <vt:lpstr>Implications for Consensus Scoring</vt:lpstr>
      <vt:lpstr>Potential Consensus Architecture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Venkatesh Thiyagarajan</dc:creator>
  <cp:lastModifiedBy>Venkatesh Thiyagarajan</cp:lastModifiedBy>
  <cp:revision>38</cp:revision>
  <dcterms:modified xsi:type="dcterms:W3CDTF">2026-10-16T04:59:57Z</dcterms:modified>
</cp:coreProperties>
</file>